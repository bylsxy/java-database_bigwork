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6000" y="720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2E74B5"/>
                </a:solidFill>
                <a:latin typeface="Microsoft YaHei"/>
              </a:rPr>
              <a:t>数据库课程设计答辩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6000" y="1152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B2545"/>
                </a:solidFill>
                <a:latin typeface="Microsoft YaHei"/>
              </a:rPr>
              <a:t>基于PostgreSQL的数字图像集成管理系统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0" y="1944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第07组  徐阳 202425220527  /  指导教师：郭玉彬</a:t>
            </a:r>
          </a:p>
        </p:txBody>
      </p:sp>
      <p:pic>
        <p:nvPicPr>
          <p:cNvPr id="5" name="Picture 4" descr="functio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2232000"/>
            <a:ext cx="7740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任务书要求与交付物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数据库存储 + UI增删改查 + 需求说明书 + 课程报告 + 源码包 + PPT答辩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3999" y="1440000"/>
            <a:ext cx="3456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课程重点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用户视角数据字典、ER来源追踪、索引/视图/触发器/存储过程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1440000"/>
            <a:ext cx="3456000" cy="2736000"/>
          </a:xfrm>
          <a:prstGeom prst="roundRect">
            <a:avLst/>
          </a:prstGeom>
          <a:solidFill>
            <a:srgbClr val="F1F7F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交付策略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需求分析正式版作为基准，本报告补齐设计实现和答辩证据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000" y="1440000"/>
            <a:ext cx="3456000" cy="2736000"/>
          </a:xfrm>
          <a:prstGeom prst="roundRect">
            <a:avLst/>
          </a:prstGeom>
          <a:solidFill>
            <a:srgbClr val="F8F5E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边界声明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云端/网盘为数据库结构预留，不夸大为完整同步功能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用户场景与功能范围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机主管理大量本地照片，需要浏览、整理、检索、展示和编辑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3999" y="1440000"/>
            <a:ext cx="3456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核心CRUD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目录树、缩略图、删除、复制、粘贴、重命名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1440000"/>
            <a:ext cx="3456000" cy="2736000"/>
          </a:xfrm>
          <a:prstGeom prst="roundRect">
            <a:avLst/>
          </a:prstGeom>
          <a:solidFill>
            <a:srgbClr val="F1F7F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智能能力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AI标签、关键词搜索、NL2SQL安全SELECT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000" y="1440000"/>
            <a:ext cx="3456000" cy="2736000"/>
          </a:xfrm>
          <a:prstGeom prst="roundRect">
            <a:avLst/>
          </a:prstGeom>
          <a:solidFill>
            <a:srgbClr val="F8F5E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版本与展示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编辑快照、版本恢复、增强幻灯片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数据库概念结构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13张表覆盖目录、图片、标签、搜索、版本、日志、云端扩展预留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_requirement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026000"/>
            <a:ext cx="11160000" cy="7238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逻辑与物理设计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视图支撑界面，索引支撑搜索，触发器支撑日志，存储过程支撑报表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3999" y="1440000"/>
            <a:ext cx="3456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4个视图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v_active_images / v_directory_stats / v_image_search / v_tag_stats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1440000"/>
            <a:ext cx="3456000" cy="2736000"/>
          </a:xfrm>
          <a:prstGeom prst="roundRect">
            <a:avLst/>
          </a:prstGeom>
          <a:solidFill>
            <a:srgbClr val="F1F7F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索引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B-Tree、部分索引、GIN trigram索引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000" y="1440000"/>
            <a:ext cx="3456000" cy="2736000"/>
          </a:xfrm>
          <a:prstGeom prst="roundRect">
            <a:avLst/>
          </a:prstGeom>
          <a:solidFill>
            <a:srgbClr val="F8F5E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编程结构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5个触发器 + 5个存储过程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999" y="4392000"/>
            <a:ext cx="11196000" cy="1368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B2545"/>
                </a:solidFill>
                <a:latin typeface="Microsoft YaHei"/>
              </a:rPr>
              <a:t>空值率估算场景</a:t>
            </a:r>
          </a:p>
          <a:p>
            <a:r>
              <a:rPr sz="1300">
                <a:solidFill>
                  <a:srgbClr val="334155"/>
                </a:solidFill>
                <a:latin typeface="Microsoft YaHei"/>
              </a:rPr>
              <a:t>导入5000张本地图片，AI一周内处理约60%，云端未启用：核心图片元数据约12%，AI分析结果约40%，版本历史约95%，云端扩展表本次约100%。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系统实现证据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Java 21 + JavaFX 21.0.6 + PostgreSQL JDBC + HikariCP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3999" y="1440000"/>
            <a:ext cx="3456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分层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controller/service/dao/model/ai/scanner/util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1440000"/>
            <a:ext cx="3456000" cy="2736000"/>
          </a:xfrm>
          <a:prstGeom prst="roundRect">
            <a:avLst/>
          </a:prstGeom>
          <a:solidFill>
            <a:srgbClr val="F1F7F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事务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batchInsert、batchRename、batchInsertTags、createVersion/restoreVersion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000" y="1440000"/>
            <a:ext cx="3456000" cy="2736000"/>
          </a:xfrm>
          <a:prstGeom prst="roundRect">
            <a:avLst/>
          </a:prstGeom>
          <a:solidFill>
            <a:srgbClr val="F8F5E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打包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Maven Shade生成可运行JAR，主类Launcher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界面演示路线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主界面 -&gt; 数据库向导 -&gt; 设置页 -&gt; AI标签/搜索 -&gt; 编辑器 -&gt; 幻灯片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_02_主界面_1200x800_默认窗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080000"/>
            <a:ext cx="3528000" cy="2352000"/>
          </a:xfrm>
          <a:prstGeom prst="rect">
            <a:avLst/>
          </a:prstGeom>
        </p:spPr>
      </p:pic>
      <p:pic>
        <p:nvPicPr>
          <p:cNvPr id="6" name="Picture 5" descr="real_08_数据库连接与初始化向导_760x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00" y="1080000"/>
            <a:ext cx="3528000" cy="3156632"/>
          </a:xfrm>
          <a:prstGeom prst="rect">
            <a:avLst/>
          </a:prstGeom>
        </p:spPr>
      </p:pic>
      <p:pic>
        <p:nvPicPr>
          <p:cNvPr id="7" name="Picture 6" descr="real_14_图片编辑器_1250x9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00" y="1080000"/>
            <a:ext cx="3528000" cy="2647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999" y="5328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Microsoft YaHei"/>
              </a:rPr>
              <a:t>演示时重点打开 sql/schema.sql 和 DAO/Service 事务代码，说明数据库设计不是摆设。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6000" y="1512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Microsoft YaHei"/>
              </a:rPr>
              <a:t>不足与后续扩展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1200" y="522000"/>
            <a:ext cx="108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保守说明未实测项，明确后续可继续推进的数据库方向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000" y="810000"/>
            <a:ext cx="11340000" cy="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3999" y="1440000"/>
            <a:ext cx="3456000" cy="2736000"/>
          </a:xfrm>
          <a:prstGeom prst="roundRect">
            <a:avLst/>
          </a:prstGeom>
          <a:solidFill>
            <a:srgbClr val="FFFFFF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未夸大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不声称存储过程已全部被Java主路径调用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000" y="1440000"/>
            <a:ext cx="3456000" cy="2736000"/>
          </a:xfrm>
          <a:prstGeom prst="roundRect">
            <a:avLst/>
          </a:prstGeom>
          <a:solidFill>
            <a:srgbClr val="F1F7F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后续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云端同步界面、标准JUnit覆盖、数据库版本现场证明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000" y="1440000"/>
            <a:ext cx="3456000" cy="2736000"/>
          </a:xfrm>
          <a:prstGeom prst="roundRect">
            <a:avLst/>
          </a:prstGeom>
          <a:solidFill>
            <a:srgbClr val="F8F5EE"/>
          </a:solidFill>
          <a:ln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B2545"/>
                </a:solidFill>
                <a:latin typeface="Microsoft YaHei"/>
              </a:rPr>
              <a:t>亮点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Microsoft YaHei"/>
              </a:rPr>
              <a:t>真实界面 + 完整PostgreSQL结构 + 可答辩证据链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