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784080" y="-182880"/>
            <a:ext cx="2560320" cy="1920240"/>
          </a:xfrm>
          <a:prstGeom prst="roundRect">
            <a:avLst/>
          </a:prstGeom>
          <a:solidFill>
            <a:srgbClr val="DF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292608" y="5349240"/>
            <a:ext cx="2011680" cy="1463040"/>
          </a:xfrm>
          <a:prstGeom prst="roundRect">
            <a:avLst/>
          </a:prstGeom>
          <a:solidFill>
            <a:srgbClr val="E2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5486400" cy="34747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800" b="1">
                <a:solidFill>
                  <a:srgbClr val="2070CA"/>
                </a:solidFill>
                <a:latin typeface="Microsoft YaHei"/>
              </a:rPr>
              <a:t>基于 PostgreSQL 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6766560" cy="6583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3200" b="1">
                <a:solidFill>
                  <a:srgbClr val="132640"/>
                </a:solidFill>
                <a:latin typeface="Microsoft YaHei"/>
              </a:rPr>
              <a:t>数字图像集成管理系统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7223760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200" b="0">
                <a:solidFill>
                  <a:srgbClr val="607084"/>
                </a:solidFill>
                <a:latin typeface="Microsoft YaHei"/>
              </a:rPr>
              <a:t>数据库系统课程设计答辩 | JavaFX + PostgreSQL 桌面端图片数据资产管理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12848"/>
            <a:ext cx="6217920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050" b="0">
                <a:solidFill>
                  <a:srgbClr val="607084"/>
                </a:solidFill>
                <a:latin typeface="Microsoft YaHei"/>
              </a:rPr>
              <a:t>第07组  毕振岚 | 指导教师：郭玉彬 | 2026年6月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907792"/>
            <a:ext cx="1371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3008376"/>
            <a:ext cx="530352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700" b="1">
                <a:solidFill>
                  <a:srgbClr val="2070CA"/>
                </a:solidFill>
                <a:latin typeface="Microsoft YaHei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300984"/>
            <a:ext cx="1078992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607084"/>
                </a:solidFill>
                <a:latin typeface="Microsoft YaHei"/>
              </a:rPr>
              <a:t>tables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12848" y="2907792"/>
            <a:ext cx="1371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22576" y="3008376"/>
            <a:ext cx="530352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700" b="1">
                <a:solidFill>
                  <a:srgbClr val="25B5C6"/>
                </a:solidFill>
                <a:latin typeface="Microsoft YaHei"/>
              </a:rPr>
              <a:t>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22576" y="3300984"/>
            <a:ext cx="1078992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607084"/>
                </a:solidFill>
                <a:latin typeface="Microsoft YaHei"/>
              </a:rPr>
              <a:t>indexes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2907792"/>
            <a:ext cx="1371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3008376"/>
            <a:ext cx="530352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700" b="1">
                <a:solidFill>
                  <a:srgbClr val="2AA17A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3300984"/>
            <a:ext cx="1078992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607084"/>
                </a:solidFill>
                <a:latin typeface="Microsoft YaHei"/>
              </a:rPr>
              <a:t>views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85232" y="2907792"/>
            <a:ext cx="1371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3008376"/>
            <a:ext cx="530352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700" b="1">
                <a:solidFill>
                  <a:srgbClr val="2070CA"/>
                </a:solidFill>
                <a:latin typeface="Microsoft YaHe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300984"/>
            <a:ext cx="1078992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607084"/>
                </a:solidFill>
                <a:latin typeface="Microsoft YaHei"/>
              </a:rPr>
              <a:t>triggers/procs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658368"/>
            <a:ext cx="38862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26679" y="932688"/>
            <a:ext cx="3401568" cy="329184"/>
          </a:xfrm>
          <a:prstGeom prst="roundRect">
            <a:avLst/>
          </a:prstGeom>
          <a:solidFill>
            <a:srgbClr val="E2F1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82127" y="1014984"/>
            <a:ext cx="2377440" cy="12801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607084"/>
                </a:solidFill>
                <a:latin typeface="Microsoft YaHei"/>
              </a:rPr>
              <a:t>ImageManager 主界面</a:t>
            </a:r>
          </a:p>
        </p:txBody>
      </p:sp>
      <p:pic>
        <p:nvPicPr>
          <p:cNvPr id="23" name="Picture 22" descr="real_02_主界面_1200x800_默认窗口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254" y="1371600"/>
            <a:ext cx="3360420" cy="224028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7790688" y="3886200"/>
            <a:ext cx="932688" cy="841248"/>
          </a:xfrm>
          <a:prstGeom prst="roundRect">
            <a:avLst/>
          </a:prstGeom>
          <a:solidFill>
            <a:srgbClr val="DFF8FC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90688" y="3886200"/>
            <a:ext cx="73152" cy="841248"/>
          </a:xfrm>
          <a:prstGeom prst="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36992" y="4014215"/>
            <a:ext cx="676656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900" b="1">
                <a:solidFill>
                  <a:srgbClr val="132640"/>
                </a:solidFill>
                <a:latin typeface="Microsoft YaHei"/>
              </a:rPr>
              <a:t>AI 标签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6992" y="4325112"/>
            <a:ext cx="676656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720">
                <a:latin typeface="Microsoft YaHei"/>
              </a:defRPr>
            </a:pPr>
            <a:r>
              <a:rPr sz="720" b="0">
                <a:solidFill>
                  <a:srgbClr val="607084"/>
                </a:solidFill>
                <a:latin typeface="Microsoft YaHei"/>
              </a:rPr>
              <a:t>落库</a:t>
            </a:r>
          </a:p>
          <a:p>
            <a:pPr>
              <a:lnSpc>
                <a:spcPct val="108000"/>
              </a:lnSpc>
              <a:defRPr sz="720">
                <a:latin typeface="Microsoft YaHei"/>
              </a:defRPr>
            </a:pPr>
            <a:r>
              <a:rPr sz="720" b="0">
                <a:solidFill>
                  <a:srgbClr val="607084"/>
                </a:solidFill>
                <a:latin typeface="Microsoft YaHei"/>
              </a:rPr>
              <a:t>可检索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06256" y="3886200"/>
            <a:ext cx="932688" cy="841248"/>
          </a:xfrm>
          <a:prstGeom prst="roundRect">
            <a:avLst/>
          </a:prstGeom>
          <a:solidFill>
            <a:srgbClr val="E2F6E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06256" y="3886200"/>
            <a:ext cx="73152" cy="841248"/>
          </a:xfrm>
          <a:prstGeom prst="rect">
            <a:avLst/>
          </a:prstGeom>
          <a:solidFill>
            <a:srgbClr val="2AA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0" y="4014215"/>
            <a:ext cx="676656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900" b="1">
                <a:solidFill>
                  <a:srgbClr val="132640"/>
                </a:solidFill>
                <a:latin typeface="Microsoft YaHei"/>
              </a:rPr>
              <a:t>版本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4325112"/>
            <a:ext cx="676656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720">
                <a:latin typeface="Microsoft YaHei"/>
              </a:defRPr>
            </a:pPr>
            <a:r>
              <a:rPr sz="720" b="0">
                <a:solidFill>
                  <a:srgbClr val="607084"/>
                </a:solidFill>
                <a:latin typeface="Microsoft YaHei"/>
              </a:rPr>
              <a:t>快照</a:t>
            </a:r>
          </a:p>
          <a:p>
            <a:pPr>
              <a:lnSpc>
                <a:spcPct val="108000"/>
              </a:lnSpc>
              <a:defRPr sz="720">
                <a:latin typeface="Microsoft YaHei"/>
              </a:defRPr>
            </a:pPr>
            <a:r>
              <a:rPr sz="720" b="0">
                <a:solidFill>
                  <a:srgbClr val="607084"/>
                </a:solidFill>
                <a:latin typeface="Microsoft YaHei"/>
              </a:rPr>
              <a:t>回滚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21824" y="3886200"/>
            <a:ext cx="932688" cy="841248"/>
          </a:xfrm>
          <a:prstGeom prst="roundRect">
            <a:avLst/>
          </a:prstGeom>
          <a:solidFill>
            <a:srgbClr val="E2F1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21824" y="3886200"/>
            <a:ext cx="73152" cy="841248"/>
          </a:xfrm>
          <a:prstGeom prst="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68128" y="4014215"/>
            <a:ext cx="676656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900" b="1">
                <a:solidFill>
                  <a:srgbClr val="132640"/>
                </a:solidFill>
                <a:latin typeface="Microsoft YaHei"/>
              </a:rPr>
              <a:t>CTE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68128" y="4325112"/>
            <a:ext cx="676656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720">
                <a:latin typeface="Microsoft YaHei"/>
              </a:defRPr>
            </a:pPr>
            <a:r>
              <a:rPr sz="720" b="0">
                <a:solidFill>
                  <a:srgbClr val="607084"/>
                </a:solidFill>
                <a:latin typeface="Microsoft YaHei"/>
              </a:rPr>
              <a:t>目录树</a:t>
            </a:r>
          </a:p>
          <a:p>
            <a:pPr>
              <a:lnSpc>
                <a:spcPct val="108000"/>
              </a:lnSpc>
              <a:defRPr sz="720">
                <a:latin typeface="Microsoft YaHei"/>
              </a:defRPr>
            </a:pPr>
            <a:r>
              <a:rPr sz="720" b="0">
                <a:solidFill>
                  <a:srgbClr val="607084"/>
                </a:solidFill>
                <a:latin typeface="Microsoft YaHei"/>
              </a:rPr>
              <a:t>统计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6437376"/>
            <a:ext cx="530352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607084"/>
                </a:solidFill>
                <a:latin typeface="Microsoft YaHei"/>
              </a:rPr>
              <a:t>第07组 | 基于 PostgreSQL 的数字图像集成管理系统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54512" y="6437376"/>
            <a:ext cx="73152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750" b="0">
                <a:solidFill>
                  <a:srgbClr val="607084"/>
                </a:solidFill>
                <a:latin typeface="Microsoft YaHei"/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784080" y="-182880"/>
            <a:ext cx="2560320" cy="1920240"/>
          </a:xfrm>
          <a:prstGeom prst="roundRect">
            <a:avLst/>
          </a:prstGeom>
          <a:solidFill>
            <a:srgbClr val="DF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292608" y="5349240"/>
            <a:ext cx="2011680" cy="1463040"/>
          </a:xfrm>
          <a:prstGeom prst="roundRect">
            <a:avLst/>
          </a:prstGeom>
          <a:solidFill>
            <a:srgbClr val="E2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3108960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850" b="1">
                <a:solidFill>
                  <a:srgbClr val="2070CA"/>
                </a:solidFill>
                <a:latin typeface="Microsoft YaHei"/>
              </a:rPr>
              <a:t>数据库系统课程设计答辩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02920"/>
            <a:ext cx="6949440" cy="4114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2300" b="1">
                <a:solidFill>
                  <a:srgbClr val="132640"/>
                </a:solidFill>
                <a:latin typeface="Microsoft YaHei"/>
              </a:rPr>
              <a:t>答辩先对齐得分点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32688"/>
            <a:ext cx="8412480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07084"/>
                </a:solidFill>
                <a:latin typeface="Microsoft YaHei"/>
              </a:rPr>
              <a:t>数据库设计是主线，功能、后台和界面都服务于落库与查询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243584"/>
            <a:ext cx="1005840" cy="41148"/>
          </a:xfrm>
          <a:prstGeom prst="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72768" y="1243584"/>
            <a:ext cx="493776" cy="41148"/>
          </a:xfrm>
          <a:prstGeom prst="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18520" y="356616"/>
            <a:ext cx="502920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1000" b="1">
                <a:solidFill>
                  <a:srgbClr val="607084"/>
                </a:solidFill>
                <a:latin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37376"/>
            <a:ext cx="530352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607084"/>
                </a:solidFill>
                <a:latin typeface="Microsoft YaHei"/>
              </a:rPr>
              <a:t>第07组 | 基于 PostgreSQL 的数字图像集成管理系统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4512" y="6437376"/>
            <a:ext cx="73152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750" b="0">
                <a:solidFill>
                  <a:srgbClr val="607084"/>
                </a:solidFill>
                <a:latin typeface="Microsoft YaHei"/>
              </a:rPr>
              <a:t>02 / 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00200"/>
            <a:ext cx="50749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1600200"/>
            <a:ext cx="73152" cy="987552"/>
          </a:xfrm>
          <a:prstGeom prst="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1728216"/>
            <a:ext cx="4818888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32640"/>
                </a:solidFill>
                <a:latin typeface="Microsoft YaHei"/>
              </a:rPr>
              <a:t>数据库设计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039112"/>
            <a:ext cx="4818888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900">
                <a:latin typeface="Microsoft YaHei"/>
              </a:defRPr>
            </a:pPr>
            <a:r>
              <a:rPr sz="900" b="0">
                <a:solidFill>
                  <a:srgbClr val="607084"/>
                </a:solidFill>
                <a:latin typeface="Microsoft YaHei"/>
              </a:rPr>
              <a:t>ER、关系模式、物理结构、索引、视图、触发器、存储过程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783080"/>
            <a:ext cx="502920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1800" b="1">
                <a:solidFill>
                  <a:srgbClr val="2070CA"/>
                </a:solidFill>
                <a:latin typeface="Microsoft YaHei"/>
              </a:rP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1828800"/>
            <a:ext cx="228600" cy="146304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607084"/>
                </a:solidFill>
                <a:latin typeface="Microsoft YaHei"/>
              </a:rPr>
              <a:t>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600200"/>
            <a:ext cx="50749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0488" y="1600200"/>
            <a:ext cx="73152" cy="987552"/>
          </a:xfrm>
          <a:prstGeom prst="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1728216"/>
            <a:ext cx="4818888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32640"/>
                </a:solidFill>
                <a:latin typeface="Microsoft YaHei"/>
              </a:rPr>
              <a:t>功能设计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2039112"/>
            <a:ext cx="4818888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900">
                <a:latin typeface="Microsoft YaHei"/>
              </a:defRPr>
            </a:pPr>
            <a:r>
              <a:rPr sz="900" b="0">
                <a:solidFill>
                  <a:srgbClr val="607084"/>
                </a:solidFill>
                <a:latin typeface="Microsoft YaHei"/>
              </a:rPr>
              <a:t>目录、缩略图、AI 标签、NL2SQL、版本、幻灯片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78440" y="1783080"/>
            <a:ext cx="502920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1800" b="1">
                <a:solidFill>
                  <a:srgbClr val="25B5C6"/>
                </a:solidFill>
                <a:latin typeface="Microsoft YaHei"/>
              </a:rPr>
              <a:t>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72216" y="1828800"/>
            <a:ext cx="228600" cy="146304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607084"/>
                </a:solidFill>
                <a:latin typeface="Microsoft YaHei"/>
              </a:rPr>
              <a:t>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926080"/>
            <a:ext cx="50749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2926080"/>
            <a:ext cx="73152" cy="987552"/>
          </a:xfrm>
          <a:prstGeom prst="rect">
            <a:avLst/>
          </a:prstGeom>
          <a:solidFill>
            <a:srgbClr val="2AA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054096"/>
            <a:ext cx="4818888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32640"/>
                </a:solidFill>
                <a:latin typeface="Microsoft YaHei"/>
              </a:rPr>
              <a:t>后台程序设计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3364992"/>
            <a:ext cx="4818888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900">
                <a:latin typeface="Microsoft YaHei"/>
              </a:defRPr>
            </a:pPr>
            <a:r>
              <a:rPr sz="900" b="0">
                <a:solidFill>
                  <a:srgbClr val="607084"/>
                </a:solidFill>
                <a:latin typeface="Microsoft YaHei"/>
              </a:rPr>
              <a:t>HikariCP、PreparedStatement、事务回滚、后台扫描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3108960"/>
            <a:ext cx="502920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1800" b="1">
                <a:solidFill>
                  <a:srgbClr val="2AA17A"/>
                </a:solidFill>
                <a:latin typeface="Microsoft YaHei"/>
              </a:rPr>
              <a:t>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0096" y="3154680"/>
            <a:ext cx="228600" cy="146304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607084"/>
                </a:solidFill>
                <a:latin typeface="Microsoft YaHei"/>
              </a:rPr>
              <a:t>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0488" y="2926080"/>
            <a:ext cx="50749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0488" y="2926080"/>
            <a:ext cx="73152" cy="987552"/>
          </a:xfrm>
          <a:prstGeom prst="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36792" y="3054096"/>
            <a:ext cx="4818888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32640"/>
                </a:solidFill>
                <a:latin typeface="Microsoft YaHei"/>
              </a:rPr>
              <a:t>界面设计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3364992"/>
            <a:ext cx="4818888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900">
                <a:latin typeface="Microsoft YaHei"/>
              </a:defRPr>
            </a:pPr>
            <a:r>
              <a:rPr sz="900" b="0">
                <a:solidFill>
                  <a:srgbClr val="607084"/>
                </a:solidFill>
                <a:latin typeface="Microsoft YaHei"/>
              </a:rPr>
              <a:t>初始化向导、主界面、编辑器、设置页、演示路径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78440" y="3108960"/>
            <a:ext cx="502920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1800" b="1">
                <a:solidFill>
                  <a:srgbClr val="2070CA"/>
                </a:solidFill>
                <a:latin typeface="Microsoft YaHei"/>
              </a:rPr>
              <a:t>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72216" y="3154680"/>
            <a:ext cx="228600" cy="146304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607084"/>
                </a:solidFill>
                <a:latin typeface="Microsoft YaHei"/>
              </a:rPr>
              <a:t>分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251960"/>
            <a:ext cx="50749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4251960"/>
            <a:ext cx="73152" cy="987552"/>
          </a:xfrm>
          <a:prstGeom prst="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4379976"/>
            <a:ext cx="4818888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32640"/>
                </a:solidFill>
                <a:latin typeface="Microsoft YaHei"/>
              </a:rPr>
              <a:t>报告表述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" y="4690872"/>
            <a:ext cx="4818888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900">
                <a:latin typeface="Microsoft YaHei"/>
              </a:defRPr>
            </a:pPr>
            <a:r>
              <a:rPr sz="900" b="0">
                <a:solidFill>
                  <a:srgbClr val="607084"/>
                </a:solidFill>
                <a:latin typeface="Microsoft YaHei"/>
              </a:rPr>
              <a:t>模板章节、数据字典、测试截图、总结分析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4434840"/>
            <a:ext cx="502920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1800" b="1">
                <a:solidFill>
                  <a:srgbClr val="25B5C6"/>
                </a:solidFill>
                <a:latin typeface="Microsoft YaHei"/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40096" y="4480560"/>
            <a:ext cx="228600" cy="146304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607084"/>
                </a:solidFill>
                <a:latin typeface="Microsoft YaHei"/>
              </a:rPr>
              <a:t>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0488" y="4251960"/>
            <a:ext cx="50749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90488" y="4251960"/>
            <a:ext cx="73152" cy="987552"/>
          </a:xfrm>
          <a:prstGeom prst="rect">
            <a:avLst/>
          </a:prstGeom>
          <a:solidFill>
            <a:srgbClr val="2AA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36792" y="4379976"/>
            <a:ext cx="4818888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32640"/>
                </a:solidFill>
                <a:latin typeface="Microsoft YaHei"/>
              </a:rPr>
              <a:t>PPT表达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36792" y="4690872"/>
            <a:ext cx="4818888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900">
                <a:latin typeface="Microsoft YaHei"/>
              </a:defRPr>
            </a:pPr>
            <a:r>
              <a:rPr sz="900" b="0">
                <a:solidFill>
                  <a:srgbClr val="607084"/>
                </a:solidFill>
                <a:latin typeface="Microsoft YaHei"/>
              </a:rPr>
              <a:t>15分钟内直入数据库含金量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78440" y="4434840"/>
            <a:ext cx="502920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1800" b="1">
                <a:solidFill>
                  <a:srgbClr val="2AA17A"/>
                </a:solidFill>
                <a:latin typeface="Microsoft YaHei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72216" y="4480560"/>
            <a:ext cx="228600" cy="146304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607084"/>
                </a:solidFill>
                <a:latin typeface="Microsoft YaHei"/>
              </a:rPr>
              <a:t>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784080" y="-182880"/>
            <a:ext cx="2560320" cy="1920240"/>
          </a:xfrm>
          <a:prstGeom prst="roundRect">
            <a:avLst/>
          </a:prstGeom>
          <a:solidFill>
            <a:srgbClr val="DF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292608" y="5349240"/>
            <a:ext cx="2011680" cy="1463040"/>
          </a:xfrm>
          <a:prstGeom prst="roundRect">
            <a:avLst/>
          </a:prstGeom>
          <a:solidFill>
            <a:srgbClr val="E2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3108960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850" b="1">
                <a:solidFill>
                  <a:srgbClr val="2070CA"/>
                </a:solidFill>
                <a:latin typeface="Microsoft YaHei"/>
              </a:rPr>
              <a:t>数据库系统课程设计答辩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02920"/>
            <a:ext cx="6949440" cy="4114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2300" b="1">
                <a:solidFill>
                  <a:srgbClr val="132640"/>
                </a:solidFill>
                <a:latin typeface="Microsoft YaHei"/>
              </a:rPr>
              <a:t>系统功能结构：图片管理不是文件夹外壳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32688"/>
            <a:ext cx="8412480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07084"/>
                </a:solidFill>
                <a:latin typeface="Microsoft YaHei"/>
              </a:rPr>
              <a:t>目录、图片、标签、AI、版本、日志共同组成可查询的数据资产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243584"/>
            <a:ext cx="1005840" cy="41148"/>
          </a:xfrm>
          <a:prstGeom prst="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72768" y="1243584"/>
            <a:ext cx="493776" cy="41148"/>
          </a:xfrm>
          <a:prstGeom prst="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18520" y="356616"/>
            <a:ext cx="502920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1000" b="1">
                <a:solidFill>
                  <a:srgbClr val="607084"/>
                </a:solidFill>
                <a:latin typeface="Microsoft YaHe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37376"/>
            <a:ext cx="530352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607084"/>
                </a:solidFill>
                <a:latin typeface="Microsoft YaHei"/>
              </a:rPr>
              <a:t>第07组 | 基于 PostgreSQL 的数字图像集成管理系统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4512" y="6437376"/>
            <a:ext cx="73152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750" b="0">
                <a:solidFill>
                  <a:srgbClr val="607084"/>
                </a:solidFill>
                <a:latin typeface="Microsoft YaHei"/>
              </a:rPr>
              <a:t>03 / 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240280"/>
            <a:ext cx="2834640" cy="1078992"/>
          </a:xfrm>
          <a:prstGeom prst="roundRect">
            <a:avLst/>
          </a:prstGeom>
          <a:solidFill>
            <a:srgbClr val="E2F1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2240280"/>
            <a:ext cx="73152" cy="1078992"/>
          </a:xfrm>
          <a:prstGeom prst="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2368296"/>
            <a:ext cx="2578608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32640"/>
                </a:solidFill>
                <a:latin typeface="Microsoft YaHei"/>
              </a:rPr>
              <a:t>PostgreSQL 数据资产层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679192"/>
            <a:ext cx="2578608" cy="56692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850">
                <a:latin typeface="Microsoft YaHei"/>
              </a:defRPr>
            </a:pPr>
            <a:r>
              <a:rPr sz="850" b="0">
                <a:solidFill>
                  <a:srgbClr val="607084"/>
                </a:solidFill>
                <a:latin typeface="Microsoft YaHei"/>
              </a:rPr>
              <a:t>约束、事务、索引、视图、触发器、存储过程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1508760"/>
            <a:ext cx="2788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1508760"/>
            <a:ext cx="73152" cy="868680"/>
          </a:xfrm>
          <a:prstGeom prst="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636776"/>
            <a:ext cx="2532887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32640"/>
                </a:solidFill>
                <a:latin typeface="Microsoft YaHei"/>
              </a:rPr>
              <a:t>目录树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1947672"/>
            <a:ext cx="2532887" cy="35661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850">
                <a:latin typeface="Microsoft YaHei"/>
              </a:defRPr>
            </a:pPr>
            <a:r>
              <a:rPr sz="850" b="0">
                <a:solidFill>
                  <a:srgbClr val="607084"/>
                </a:solidFill>
                <a:latin typeface="Microsoft YaHei"/>
              </a:rPr>
              <a:t>递归 CTE / 懒加载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03120" y="2377439"/>
            <a:ext cx="3749040" cy="384049"/>
          </a:xfrm>
          <a:prstGeom prst="line">
            <a:avLst/>
          </a:prstGeom>
          <a:ln w="13970">
            <a:solidFill>
              <a:srgbClr val="D3E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1520" y="3063240"/>
            <a:ext cx="2788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063240"/>
            <a:ext cx="73152" cy="868680"/>
          </a:xfrm>
          <a:prstGeom prst="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191256"/>
            <a:ext cx="2532887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32640"/>
                </a:solidFill>
                <a:latin typeface="Microsoft YaHei"/>
              </a:rPr>
              <a:t>图片元数据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502152"/>
            <a:ext cx="2532887" cy="35661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850">
                <a:latin typeface="Microsoft YaHei"/>
              </a:defRPr>
            </a:pPr>
            <a:r>
              <a:rPr sz="850" b="0">
                <a:solidFill>
                  <a:srgbClr val="607084"/>
                </a:solidFill>
                <a:latin typeface="Microsoft YaHei"/>
              </a:rPr>
              <a:t>路径、大小、hash、bytea 缩略图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2103120" y="2761488"/>
            <a:ext cx="3749040" cy="301752"/>
          </a:xfrm>
          <a:prstGeom prst="line">
            <a:avLst/>
          </a:prstGeom>
          <a:ln w="13970">
            <a:solidFill>
              <a:srgbClr val="D3E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434840" y="960120"/>
            <a:ext cx="2788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960120"/>
            <a:ext cx="73152" cy="868680"/>
          </a:xfrm>
          <a:prstGeom prst="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81144" y="1088136"/>
            <a:ext cx="2532887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32640"/>
                </a:solidFill>
                <a:latin typeface="Microsoft YaHei"/>
              </a:rPr>
              <a:t>AI 标签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81144" y="1399032"/>
            <a:ext cx="2532887" cy="35661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850">
                <a:latin typeface="Microsoft YaHei"/>
              </a:defRPr>
            </a:pPr>
            <a:r>
              <a:rPr sz="850" b="0">
                <a:solidFill>
                  <a:srgbClr val="607084"/>
                </a:solidFill>
                <a:latin typeface="Microsoft YaHei"/>
              </a:rPr>
              <a:t>分析结果入库后再检索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806440" y="1828800"/>
            <a:ext cx="45720" cy="932688"/>
          </a:xfrm>
          <a:prstGeom prst="line">
            <a:avLst/>
          </a:prstGeom>
          <a:ln w="13970">
            <a:solidFill>
              <a:srgbClr val="D3E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138160" y="1508760"/>
            <a:ext cx="2788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1508760"/>
            <a:ext cx="73152" cy="868680"/>
          </a:xfrm>
          <a:prstGeom prst="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84464" y="1636776"/>
            <a:ext cx="2532887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32640"/>
                </a:solidFill>
                <a:latin typeface="Microsoft YaHei"/>
              </a:rPr>
              <a:t>NL2SQL 搜索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4464" y="1947672"/>
            <a:ext cx="2532887" cy="35661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850">
                <a:latin typeface="Microsoft YaHei"/>
              </a:defRPr>
            </a:pPr>
            <a:r>
              <a:rPr sz="850" b="0">
                <a:solidFill>
                  <a:srgbClr val="607084"/>
                </a:solidFill>
                <a:latin typeface="Microsoft YaHei"/>
              </a:rPr>
              <a:t>只读视图 + SQL 安全校验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5852160" y="2377439"/>
            <a:ext cx="3657600" cy="384049"/>
          </a:xfrm>
          <a:prstGeom prst="line">
            <a:avLst/>
          </a:prstGeom>
          <a:ln w="13970">
            <a:solidFill>
              <a:srgbClr val="D3E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138160" y="3063240"/>
            <a:ext cx="2788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60" y="3063240"/>
            <a:ext cx="73152" cy="868680"/>
          </a:xfrm>
          <a:prstGeom prst="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84464" y="3191256"/>
            <a:ext cx="2532887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32640"/>
                </a:solidFill>
                <a:latin typeface="Microsoft YaHei"/>
              </a:rPr>
              <a:t>版本历史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4464" y="3502152"/>
            <a:ext cx="2532887" cy="35661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850">
                <a:latin typeface="Microsoft YaHei"/>
              </a:defRPr>
            </a:pPr>
            <a:r>
              <a:rPr sz="850" b="0">
                <a:solidFill>
                  <a:srgbClr val="607084"/>
                </a:solidFill>
                <a:latin typeface="Microsoft YaHei"/>
              </a:rPr>
              <a:t>编辑快照、恢复过程、操作日志</a:t>
            </a:r>
          </a:p>
        </p:txBody>
      </p:sp>
      <p:cxnSp>
        <p:nvCxnSpPr>
          <p:cNvPr id="40" name="Connector 39"/>
          <p:cNvCxnSpPr/>
          <p:nvPr/>
        </p:nvCxnSpPr>
        <p:spPr>
          <a:xfrm flipH="1" flipV="1">
            <a:off x="5852160" y="2761488"/>
            <a:ext cx="3657600" cy="301752"/>
          </a:xfrm>
          <a:prstGeom prst="line">
            <a:avLst/>
          </a:prstGeom>
          <a:ln w="13970">
            <a:solidFill>
              <a:srgbClr val="D3E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4434840" y="4315968"/>
            <a:ext cx="2788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34840" y="4315968"/>
            <a:ext cx="73152" cy="868680"/>
          </a:xfrm>
          <a:prstGeom prst="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81144" y="4443983"/>
            <a:ext cx="2532887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32640"/>
                </a:solidFill>
                <a:latin typeface="Microsoft YaHei"/>
              </a:rPr>
              <a:t>界面演示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4754879"/>
            <a:ext cx="2532887" cy="35661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850">
                <a:latin typeface="Microsoft YaHei"/>
              </a:defRPr>
            </a:pPr>
            <a:r>
              <a:rPr sz="850" b="0">
                <a:solidFill>
                  <a:srgbClr val="607084"/>
                </a:solidFill>
                <a:latin typeface="Microsoft YaHei"/>
              </a:rPr>
              <a:t>向导、主界面、编辑器、幻灯片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5806440" y="2761488"/>
            <a:ext cx="45720" cy="1554480"/>
          </a:xfrm>
          <a:prstGeom prst="line">
            <a:avLst/>
          </a:prstGeom>
          <a:ln w="13970">
            <a:solidFill>
              <a:srgbClr val="D3E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784080" y="-182880"/>
            <a:ext cx="2560320" cy="1920240"/>
          </a:xfrm>
          <a:prstGeom prst="roundRect">
            <a:avLst/>
          </a:prstGeom>
          <a:solidFill>
            <a:srgbClr val="DF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292608" y="5349240"/>
            <a:ext cx="2011680" cy="1463040"/>
          </a:xfrm>
          <a:prstGeom prst="roundRect">
            <a:avLst/>
          </a:prstGeom>
          <a:solidFill>
            <a:srgbClr val="E2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3108960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850" b="1">
                <a:solidFill>
                  <a:srgbClr val="2070CA"/>
                </a:solidFill>
                <a:latin typeface="Microsoft YaHei"/>
              </a:rPr>
              <a:t>数据库系统课程设计答辩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02920"/>
            <a:ext cx="6949440" cy="4114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2300" b="1">
                <a:solidFill>
                  <a:srgbClr val="132640"/>
                </a:solidFill>
                <a:latin typeface="Microsoft YaHei"/>
              </a:rPr>
              <a:t>ER 关系：按外键方向读，不按箭头猜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32688"/>
            <a:ext cx="8412480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07084"/>
                </a:solidFill>
                <a:latin typeface="Microsoft YaHei"/>
              </a:rPr>
              <a:t>统一口径：子表.FK -&gt; 父表.PK；基数直接写明，避免把一对多和多对多混在一起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243584"/>
            <a:ext cx="1005840" cy="41148"/>
          </a:xfrm>
          <a:prstGeom prst="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72768" y="1243584"/>
            <a:ext cx="493776" cy="41148"/>
          </a:xfrm>
          <a:prstGeom prst="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18520" y="356616"/>
            <a:ext cx="502920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1000" b="1">
                <a:solidFill>
                  <a:srgbClr val="607084"/>
                </a:solidFill>
                <a:latin typeface="Microsoft YaHei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37376"/>
            <a:ext cx="530352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607084"/>
                </a:solidFill>
                <a:latin typeface="Microsoft YaHei"/>
              </a:rPr>
              <a:t>第07组 | 基于 PostgreSQL 的数字图像集成管理系统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4512" y="6437376"/>
            <a:ext cx="73152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750" b="0">
                <a:solidFill>
                  <a:srgbClr val="607084"/>
                </a:solidFill>
                <a:latin typeface="Microsoft YaHei"/>
              </a:rPr>
              <a:t>04 / 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408176"/>
            <a:ext cx="10771632" cy="566928"/>
          </a:xfrm>
          <a:prstGeom prst="roundRect">
            <a:avLst/>
          </a:prstGeom>
          <a:solidFill>
            <a:srgbClr val="E2F1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1408176"/>
            <a:ext cx="73152" cy="566928"/>
          </a:xfrm>
          <a:prstGeom prst="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1536192"/>
            <a:ext cx="10515600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120" b="1">
                <a:solidFill>
                  <a:srgbClr val="132640"/>
                </a:solidFill>
                <a:latin typeface="Microsoft YaHei"/>
              </a:rPr>
              <a:t>读图规则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1847088"/>
            <a:ext cx="10515600" cy="54863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800">
                <a:latin typeface="Microsoft YaHei"/>
              </a:defRPr>
            </a:pPr>
            <a:r>
              <a:rPr sz="800" b="0">
                <a:solidFill>
                  <a:srgbClr val="607084"/>
                </a:solidFill>
                <a:latin typeface="Microsoft YaHei"/>
              </a:rPr>
              <a:t>箭头或表格都按“外键引用方向”理解；真正的一对多写成 N:1；images 与 tags 的多对多必须通过 image_tags 拆成两条 N:1。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212848"/>
            <a:ext cx="534924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050" b="1">
                <a:solidFill>
                  <a:srgbClr val="132640"/>
                </a:solidFill>
                <a:latin typeface="Microsoft YaHei"/>
              </a:rPr>
              <a:t>图片主线与审计关系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487168"/>
            <a:ext cx="2674620" cy="310896"/>
          </a:xfrm>
          <a:prstGeom prst="rect">
            <a:avLst/>
          </a:prstGeom>
          <a:solidFill>
            <a:srgbClr val="E2F1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542032"/>
            <a:ext cx="2619756" cy="10972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740" b="1">
                <a:solidFill>
                  <a:srgbClr val="132640"/>
                </a:solidFill>
                <a:latin typeface="Microsoft YaHei"/>
              </a:rPr>
              <a:t>外键引用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2987" y="2487168"/>
            <a:ext cx="855878" cy="310896"/>
          </a:xfrm>
          <a:prstGeom prst="rect">
            <a:avLst/>
          </a:prstGeom>
          <a:solidFill>
            <a:srgbClr val="E2F1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60419" y="2542032"/>
            <a:ext cx="801014" cy="10972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740" b="1">
                <a:solidFill>
                  <a:srgbClr val="132640"/>
                </a:solidFill>
                <a:latin typeface="Microsoft YaHei"/>
              </a:rPr>
              <a:t>基数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88866" y="2487168"/>
            <a:ext cx="1818741" cy="310896"/>
          </a:xfrm>
          <a:prstGeom prst="rect">
            <a:avLst/>
          </a:prstGeom>
          <a:solidFill>
            <a:srgbClr val="E2F1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16298" y="2542032"/>
            <a:ext cx="1763877" cy="10972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740" b="1">
                <a:solidFill>
                  <a:srgbClr val="132640"/>
                </a:solidFill>
                <a:latin typeface="Microsoft YaHei"/>
              </a:rPr>
              <a:t>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2798063"/>
            <a:ext cx="26746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862071"/>
            <a:ext cx="2619756" cy="12801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635" b="0">
                <a:solidFill>
                  <a:srgbClr val="607084"/>
                </a:solidFill>
                <a:latin typeface="Microsoft YaHei"/>
              </a:rPr>
              <a:t>directories.parent_id -&gt; directories.id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2987" y="2798063"/>
            <a:ext cx="85587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60419" y="2862071"/>
            <a:ext cx="801014" cy="12801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700" b="0">
                <a:solidFill>
                  <a:srgbClr val="607084"/>
                </a:solidFill>
                <a:latin typeface="Microsoft YaHei"/>
              </a:rPr>
              <a:t>N:1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88866" y="2798063"/>
            <a:ext cx="1818741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16298" y="2862071"/>
            <a:ext cx="1763877" cy="12801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00" b="0">
                <a:solidFill>
                  <a:srgbClr val="607084"/>
                </a:solidFill>
                <a:latin typeface="Microsoft YaHei"/>
              </a:rPr>
              <a:t>目录树自引用；根目录为 NULL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3163823"/>
            <a:ext cx="2674620" cy="365760"/>
          </a:xfrm>
          <a:prstGeom prst="rect">
            <a:avLst/>
          </a:prstGeom>
          <a:solidFill>
            <a:srgbClr val="EEF3F9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227831"/>
            <a:ext cx="2619756" cy="12801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635" b="0">
                <a:solidFill>
                  <a:srgbClr val="607084"/>
                </a:solidFill>
                <a:latin typeface="Microsoft YaHei"/>
              </a:rPr>
              <a:t>images.directory_id -&gt; directories.id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2987" y="3163823"/>
            <a:ext cx="855878" cy="365760"/>
          </a:xfrm>
          <a:prstGeom prst="rect">
            <a:avLst/>
          </a:prstGeom>
          <a:solidFill>
            <a:srgbClr val="EEF3F9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60419" y="3227831"/>
            <a:ext cx="801014" cy="12801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700" b="0">
                <a:solidFill>
                  <a:srgbClr val="607084"/>
                </a:solidFill>
                <a:latin typeface="Microsoft YaHei"/>
              </a:rPr>
              <a:t>N:1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88866" y="3163823"/>
            <a:ext cx="1818741" cy="365760"/>
          </a:xfrm>
          <a:prstGeom prst="rect">
            <a:avLst/>
          </a:prstGeom>
          <a:solidFill>
            <a:srgbClr val="EEF3F9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16298" y="3227831"/>
            <a:ext cx="1763877" cy="12801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00" b="0">
                <a:solidFill>
                  <a:srgbClr val="607084"/>
                </a:solidFill>
                <a:latin typeface="Microsoft YaHei"/>
              </a:rPr>
              <a:t>一个目录可有多张图片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3529583"/>
            <a:ext cx="26746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3593591"/>
            <a:ext cx="2619756" cy="12801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635" b="0">
                <a:solidFill>
                  <a:srgbClr val="607084"/>
                </a:solidFill>
                <a:latin typeface="Microsoft YaHei"/>
              </a:rPr>
              <a:t>operation_logs.image_id -&gt; images.id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32987" y="3529583"/>
            <a:ext cx="85587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60419" y="3593591"/>
            <a:ext cx="801014" cy="12801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700" b="0">
                <a:solidFill>
                  <a:srgbClr val="607084"/>
                </a:solidFill>
                <a:latin typeface="Microsoft YaHei"/>
              </a:rPr>
              <a:t>0..N:1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88866" y="3529583"/>
            <a:ext cx="1818741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16298" y="3593591"/>
            <a:ext cx="1763877" cy="12801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00" b="0">
                <a:solidFill>
                  <a:srgbClr val="607084"/>
                </a:solidFill>
                <a:latin typeface="Microsoft YaHei"/>
              </a:rPr>
              <a:t>图片物理删除后 FK 置 NULL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3895344"/>
            <a:ext cx="2674620" cy="365760"/>
          </a:xfrm>
          <a:prstGeom prst="rect">
            <a:avLst/>
          </a:prstGeom>
          <a:solidFill>
            <a:srgbClr val="EEF3F9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3959352"/>
            <a:ext cx="2619756" cy="12801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635" b="0">
                <a:solidFill>
                  <a:srgbClr val="607084"/>
                </a:solidFill>
                <a:latin typeface="Microsoft YaHei"/>
              </a:rPr>
              <a:t>image_versions.image_id -&gt; images.id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32987" y="3895344"/>
            <a:ext cx="855878" cy="365760"/>
          </a:xfrm>
          <a:prstGeom prst="rect">
            <a:avLst/>
          </a:prstGeom>
          <a:solidFill>
            <a:srgbClr val="EEF3F9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60419" y="3959352"/>
            <a:ext cx="801014" cy="12801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700" b="0">
                <a:solidFill>
                  <a:srgbClr val="607084"/>
                </a:solidFill>
                <a:latin typeface="Microsoft YaHei"/>
              </a:rPr>
              <a:t>N:1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88866" y="3895344"/>
            <a:ext cx="1818741" cy="365760"/>
          </a:xfrm>
          <a:prstGeom prst="rect">
            <a:avLst/>
          </a:prstGeom>
          <a:solidFill>
            <a:srgbClr val="EEF3F9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16298" y="3959352"/>
            <a:ext cx="1763877" cy="12801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00" b="0">
                <a:solidFill>
                  <a:srgbClr val="607084"/>
                </a:solidFill>
                <a:latin typeface="Microsoft YaHei"/>
              </a:rPr>
              <a:t>一张图片多个版本，is_current 标当前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4261104"/>
            <a:ext cx="26746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4325112"/>
            <a:ext cx="2619756" cy="12801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635" b="0">
                <a:solidFill>
                  <a:srgbClr val="607084"/>
                </a:solidFill>
                <a:latin typeface="Microsoft YaHei"/>
              </a:rPr>
              <a:t>ai_analysis_results.image_id -&gt; images.id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32987" y="4261104"/>
            <a:ext cx="85587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60419" y="4325112"/>
            <a:ext cx="801014" cy="12801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700" b="0">
                <a:solidFill>
                  <a:srgbClr val="607084"/>
                </a:solidFill>
                <a:latin typeface="Microsoft YaHei"/>
              </a:rPr>
              <a:t>0..1:1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88866" y="4261104"/>
            <a:ext cx="1818741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16298" y="4325112"/>
            <a:ext cx="1763877" cy="12801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00" b="0">
                <a:solidFill>
                  <a:srgbClr val="607084"/>
                </a:solidFill>
                <a:latin typeface="Microsoft YaHei"/>
              </a:rPr>
              <a:t>UNIQUE；一图最多一条 AI 完整结果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2212848"/>
            <a:ext cx="52578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050" b="1">
                <a:solidFill>
                  <a:srgbClr val="132640"/>
                </a:solidFill>
                <a:latin typeface="Microsoft YaHei"/>
              </a:rPr>
              <a:t>标签体系与扩展关系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2487168"/>
            <a:ext cx="2628900" cy="310896"/>
          </a:xfrm>
          <a:prstGeom prst="rect">
            <a:avLst/>
          </a:prstGeom>
          <a:solidFill>
            <a:srgbClr val="E2F1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45352" y="2542032"/>
            <a:ext cx="2574036" cy="10972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740" b="1">
                <a:solidFill>
                  <a:srgbClr val="132640"/>
                </a:solidFill>
                <a:latin typeface="Microsoft YaHei"/>
              </a:rPr>
              <a:t>外键引用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46820" y="2487168"/>
            <a:ext cx="841248" cy="310896"/>
          </a:xfrm>
          <a:prstGeom prst="rect">
            <a:avLst/>
          </a:prstGeom>
          <a:solidFill>
            <a:srgbClr val="E2F1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74252" y="2542032"/>
            <a:ext cx="786384" cy="10972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740" b="1">
                <a:solidFill>
                  <a:srgbClr val="132640"/>
                </a:solidFill>
                <a:latin typeface="Microsoft YaHei"/>
              </a:rPr>
              <a:t>基数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88068" y="2487168"/>
            <a:ext cx="1787652" cy="310896"/>
          </a:xfrm>
          <a:prstGeom prst="rect">
            <a:avLst/>
          </a:prstGeom>
          <a:solidFill>
            <a:srgbClr val="E2F1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15500" y="2542032"/>
            <a:ext cx="1732788" cy="10972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740" b="1">
                <a:solidFill>
                  <a:srgbClr val="132640"/>
                </a:solidFill>
                <a:latin typeface="Microsoft YaHei"/>
              </a:rPr>
              <a:t>说明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17920" y="2798063"/>
            <a:ext cx="26289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45352" y="2862071"/>
            <a:ext cx="2574036" cy="12801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635" b="0">
                <a:solidFill>
                  <a:srgbClr val="607084"/>
                </a:solidFill>
                <a:latin typeface="Microsoft YaHei"/>
              </a:rPr>
              <a:t>tags.category_id -&gt; tag_categories.id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846820" y="2798063"/>
            <a:ext cx="8412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874252" y="2862071"/>
            <a:ext cx="786384" cy="12801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700" b="0">
                <a:solidFill>
                  <a:srgbClr val="607084"/>
                </a:solidFill>
                <a:latin typeface="Microsoft YaHei"/>
              </a:rPr>
              <a:t>N:1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88068" y="2798063"/>
            <a:ext cx="178765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15500" y="2862071"/>
            <a:ext cx="1732788" cy="12801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00" b="0">
                <a:solidFill>
                  <a:srgbClr val="607084"/>
                </a:solidFill>
                <a:latin typeface="Microsoft YaHei"/>
              </a:rPr>
              <a:t>一个分类下多个标签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17920" y="3163823"/>
            <a:ext cx="2628900" cy="365760"/>
          </a:xfrm>
          <a:prstGeom prst="rect">
            <a:avLst/>
          </a:prstGeom>
          <a:solidFill>
            <a:srgbClr val="EEF3F9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45352" y="3227831"/>
            <a:ext cx="2574036" cy="12801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635" b="0">
                <a:solidFill>
                  <a:srgbClr val="607084"/>
                </a:solidFill>
                <a:latin typeface="Microsoft YaHei"/>
              </a:rPr>
              <a:t>image_tags.image_id -&gt; images.id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846820" y="3163823"/>
            <a:ext cx="841248" cy="365760"/>
          </a:xfrm>
          <a:prstGeom prst="rect">
            <a:avLst/>
          </a:prstGeom>
          <a:solidFill>
            <a:srgbClr val="EEF3F9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874252" y="3227831"/>
            <a:ext cx="786384" cy="12801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700" b="0">
                <a:solidFill>
                  <a:srgbClr val="607084"/>
                </a:solidFill>
                <a:latin typeface="Microsoft YaHei"/>
              </a:rPr>
              <a:t>N:1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688068" y="3163823"/>
            <a:ext cx="1787652" cy="365760"/>
          </a:xfrm>
          <a:prstGeom prst="rect">
            <a:avLst/>
          </a:prstGeom>
          <a:solidFill>
            <a:srgbClr val="EEF3F9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715500" y="3227831"/>
            <a:ext cx="1732788" cy="12801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00" b="0">
                <a:solidFill>
                  <a:srgbClr val="607084"/>
                </a:solidFill>
                <a:latin typeface="Microsoft YaHei"/>
              </a:rPr>
              <a:t>中间表引用图片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17920" y="3529583"/>
            <a:ext cx="26289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45352" y="3593591"/>
            <a:ext cx="2574036" cy="12801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635" b="0">
                <a:solidFill>
                  <a:srgbClr val="607084"/>
                </a:solidFill>
                <a:latin typeface="Microsoft YaHei"/>
              </a:rPr>
              <a:t>image_tags.tag_id -&gt; tags.id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846820" y="3529583"/>
            <a:ext cx="8412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874252" y="3593591"/>
            <a:ext cx="786384" cy="12801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700" b="0">
                <a:solidFill>
                  <a:srgbClr val="607084"/>
                </a:solidFill>
                <a:latin typeface="Microsoft YaHei"/>
              </a:rPr>
              <a:t>N:1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688068" y="3529583"/>
            <a:ext cx="178765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15500" y="3593591"/>
            <a:ext cx="1732788" cy="12801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00" b="0">
                <a:solidFill>
                  <a:srgbClr val="607084"/>
                </a:solidFill>
                <a:latin typeface="Microsoft YaHei"/>
              </a:rPr>
              <a:t>中间表引用标签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217920" y="3895344"/>
            <a:ext cx="2628900" cy="365760"/>
          </a:xfrm>
          <a:prstGeom prst="rect">
            <a:avLst/>
          </a:prstGeom>
          <a:solidFill>
            <a:srgbClr val="EEF3F9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45352" y="3959352"/>
            <a:ext cx="2574036" cy="12801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635" b="0">
                <a:solidFill>
                  <a:srgbClr val="607084"/>
                </a:solidFill>
                <a:latin typeface="Microsoft YaHei"/>
              </a:rPr>
              <a:t>image_edit_operations.version_id -&gt; image_versions.id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846820" y="3895344"/>
            <a:ext cx="841248" cy="365760"/>
          </a:xfrm>
          <a:prstGeom prst="rect">
            <a:avLst/>
          </a:prstGeom>
          <a:solidFill>
            <a:srgbClr val="EEF3F9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874252" y="3959352"/>
            <a:ext cx="786384" cy="12801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700" b="0">
                <a:solidFill>
                  <a:srgbClr val="607084"/>
                </a:solidFill>
                <a:latin typeface="Microsoft YaHei"/>
              </a:rPr>
              <a:t>N:1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688068" y="3895344"/>
            <a:ext cx="1787652" cy="365760"/>
          </a:xfrm>
          <a:prstGeom prst="rect">
            <a:avLst/>
          </a:prstGeom>
          <a:solidFill>
            <a:srgbClr val="EEF3F9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715500" y="3959352"/>
            <a:ext cx="1732788" cy="12801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00" b="0">
                <a:solidFill>
                  <a:srgbClr val="607084"/>
                </a:solidFill>
                <a:latin typeface="Microsoft YaHei"/>
              </a:rPr>
              <a:t>扩展预留：操作回放明细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217920" y="4261104"/>
            <a:ext cx="26289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245352" y="4325112"/>
            <a:ext cx="2574036" cy="12801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635" b="0">
                <a:solidFill>
                  <a:srgbClr val="607084"/>
                </a:solidFill>
                <a:latin typeface="Microsoft YaHei"/>
              </a:rPr>
              <a:t>cloud_images.source_id -&gt; cloud_sources.id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846820" y="4261104"/>
            <a:ext cx="8412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874252" y="4325112"/>
            <a:ext cx="786384" cy="12801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700" b="0">
                <a:solidFill>
                  <a:srgbClr val="607084"/>
                </a:solidFill>
                <a:latin typeface="Microsoft YaHei"/>
              </a:rPr>
              <a:t>N:1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688068" y="4261104"/>
            <a:ext cx="178765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715500" y="4325112"/>
            <a:ext cx="1732788" cy="12801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00" b="0">
                <a:solidFill>
                  <a:srgbClr val="607084"/>
                </a:solidFill>
                <a:latin typeface="Microsoft YaHei"/>
              </a:rPr>
              <a:t>扩展预留：云端缓存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13232" y="5413248"/>
            <a:ext cx="10561320" cy="603504"/>
          </a:xfrm>
          <a:prstGeom prst="roundRect">
            <a:avLst/>
          </a:prstGeom>
          <a:solidFill>
            <a:srgbClr val="E2F6E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13232" y="5413248"/>
            <a:ext cx="73152" cy="603504"/>
          </a:xfrm>
          <a:prstGeom prst="rect">
            <a:avLst/>
          </a:prstGeom>
          <a:solidFill>
            <a:srgbClr val="2AA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59536" y="5541264"/>
            <a:ext cx="10305288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120" b="1">
                <a:solidFill>
                  <a:srgbClr val="132640"/>
                </a:solidFill>
                <a:latin typeface="Microsoft YaHei"/>
              </a:rPr>
              <a:t>答辩一句话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59536" y="5852160"/>
            <a:ext cx="10305288" cy="9143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740">
                <a:latin typeface="Microsoft YaHei"/>
              </a:defRPr>
            </a:pPr>
            <a:r>
              <a:rPr sz="740" b="0">
                <a:solidFill>
                  <a:srgbClr val="607084"/>
                </a:solidFill>
                <a:latin typeface="Microsoft YaHei"/>
              </a:rPr>
              <a:t>images 是主表；directories 是目录维度；版本、AI 结果、日志依附图片；tag_categories/tags 是标签字典；image_tags 把 images 与 tags 的 M:N 关系拆成两条 N:1。app_settings 和 search_history 没有外键。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784080" y="-182880"/>
            <a:ext cx="2560320" cy="1920240"/>
          </a:xfrm>
          <a:prstGeom prst="roundRect">
            <a:avLst/>
          </a:prstGeom>
          <a:solidFill>
            <a:srgbClr val="DF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292608" y="5349240"/>
            <a:ext cx="2011680" cy="1463040"/>
          </a:xfrm>
          <a:prstGeom prst="roundRect">
            <a:avLst/>
          </a:prstGeom>
          <a:solidFill>
            <a:srgbClr val="E2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3108960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850" b="1">
                <a:solidFill>
                  <a:srgbClr val="2070CA"/>
                </a:solidFill>
                <a:latin typeface="Microsoft YaHei"/>
              </a:rPr>
              <a:t>数据库系统课程设计答辩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02920"/>
            <a:ext cx="6949440" cy="4114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2300" b="1">
                <a:solidFill>
                  <a:srgbClr val="132640"/>
                </a:solidFill>
                <a:latin typeface="Microsoft YaHei"/>
              </a:rPr>
              <a:t>物理结构：13 张表按职责分层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32688"/>
            <a:ext cx="8412480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07084"/>
                </a:solidFill>
                <a:latin typeface="Microsoft YaHei"/>
              </a:rPr>
              <a:t>基础对象、AI 标签、历史审计、扩展预留边界清晰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243584"/>
            <a:ext cx="1005840" cy="41148"/>
          </a:xfrm>
          <a:prstGeom prst="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72768" y="1243584"/>
            <a:ext cx="493776" cy="41148"/>
          </a:xfrm>
          <a:prstGeom prst="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18520" y="356616"/>
            <a:ext cx="502920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1000" b="1">
                <a:solidFill>
                  <a:srgbClr val="607084"/>
                </a:solidFill>
                <a:latin typeface="Microsoft YaHei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37376"/>
            <a:ext cx="530352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607084"/>
                </a:solidFill>
                <a:latin typeface="Microsoft YaHei"/>
              </a:rPr>
              <a:t>第07组 | 基于 PostgreSQL 的数字图像集成管理系统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4512" y="6437376"/>
            <a:ext cx="73152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750" b="0">
                <a:solidFill>
                  <a:srgbClr val="607084"/>
                </a:solidFill>
                <a:latin typeface="Microsoft YaHei"/>
              </a:rPr>
              <a:t>05 / 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481328"/>
            <a:ext cx="1371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581912"/>
            <a:ext cx="530352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700" b="1">
                <a:solidFill>
                  <a:srgbClr val="2070CA"/>
                </a:solidFill>
                <a:latin typeface="Microsoft YaHei"/>
              </a:rP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1874520"/>
            <a:ext cx="1078992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607084"/>
                </a:solidFill>
                <a:latin typeface="Microsoft YaHei"/>
              </a:rPr>
              <a:t>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76272" y="1481328"/>
            <a:ext cx="1371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1581912"/>
            <a:ext cx="530352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700" b="1">
                <a:solidFill>
                  <a:srgbClr val="25B5C6"/>
                </a:solidFill>
                <a:latin typeface="Microsoft YaHei"/>
              </a:rPr>
              <a:t>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1874520"/>
            <a:ext cx="1078992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607084"/>
                </a:solidFill>
                <a:latin typeface="Microsoft YaHei"/>
              </a:rPr>
              <a:t>索引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94176" y="1481328"/>
            <a:ext cx="1371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03904" y="1581912"/>
            <a:ext cx="530352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700" b="1">
                <a:solidFill>
                  <a:srgbClr val="2AA17A"/>
                </a:solidFill>
                <a:latin typeface="Microsoft Ya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3904" y="1874520"/>
            <a:ext cx="1078992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607084"/>
                </a:solidFill>
                <a:latin typeface="Microsoft YaHei"/>
              </a:rPr>
              <a:t>视图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12080" y="1481328"/>
            <a:ext cx="1371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21808" y="1581912"/>
            <a:ext cx="530352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700" b="1">
                <a:solidFill>
                  <a:srgbClr val="2070CA"/>
                </a:solidFill>
                <a:latin typeface="Microsoft Ya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808" y="1874520"/>
            <a:ext cx="1078992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607084"/>
                </a:solidFill>
                <a:latin typeface="Microsoft YaHei"/>
              </a:rPr>
              <a:t>触发器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9984" y="1481328"/>
            <a:ext cx="1371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9712" y="1581912"/>
            <a:ext cx="530352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700" b="1">
                <a:solidFill>
                  <a:srgbClr val="25B5C6"/>
                </a:solidFill>
                <a:latin typeface="Microsoft YaHe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1874520"/>
            <a:ext cx="1078992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607084"/>
                </a:solidFill>
                <a:latin typeface="Microsoft YaHei"/>
              </a:rPr>
              <a:t>存储过程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58368" y="2423160"/>
          <a:ext cx="1088136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10540"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132640"/>
                          </a:solidFill>
                          <a:latin typeface="Microsoft YaHei"/>
                        </a:defRPr>
                      </a:pPr>
                      <a:r>
                        <a:t>层次</a:t>
                      </a:r>
                    </a:p>
                  </a:txBody>
                  <a:tcPr marL="36576" marR="36576" marT="27432" marB="27432">
                    <a:solidFill>
                      <a:srgbClr val="E2F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132640"/>
                          </a:solidFill>
                          <a:latin typeface="Microsoft YaHei"/>
                        </a:defRPr>
                      </a:pPr>
                      <a:r>
                        <a:t>表/对象</a:t>
                      </a:r>
                    </a:p>
                  </a:txBody>
                  <a:tcPr marL="36576" marR="36576" marT="27432" marB="27432">
                    <a:solidFill>
                      <a:srgbClr val="E2F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132640"/>
                          </a:solidFill>
                          <a:latin typeface="Microsoft YaHei"/>
                        </a:defRPr>
                      </a:pPr>
                      <a:r>
                        <a:t>答辩时说明的职责</a:t>
                      </a:r>
                    </a:p>
                  </a:txBody>
                  <a:tcPr marL="36576" marR="36576" marT="27432" marB="27432">
                    <a:solidFill>
                      <a:srgbClr val="E2F1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607084"/>
                          </a:solidFill>
                          <a:latin typeface="Microsoft YaHei"/>
                        </a:defRPr>
                      </a:pPr>
                      <a:r>
                        <a:t>目录与图片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607084"/>
                          </a:solidFill>
                          <a:latin typeface="Microsoft YaHei"/>
                        </a:defRPr>
                      </a:pPr>
                      <a:r>
                        <a:t>directories, images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607084"/>
                          </a:solidFill>
                          <a:latin typeface="Microsoft YaHei"/>
                        </a:defRPr>
                      </a:pPr>
                      <a:r>
                        <a:t>把文件系统层级、图片元数据、缩略图 bytea 结构化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607084"/>
                          </a:solidFill>
                          <a:latin typeface="Microsoft YaHei"/>
                        </a:defRPr>
                      </a:pPr>
                      <a:r>
                        <a:t>标签与 AI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607084"/>
                          </a:solidFill>
                          <a:latin typeface="Microsoft YaHei"/>
                        </a:defRPr>
                      </a:pPr>
                      <a:r>
                        <a:t>tag_categories, tags, image_tags, ai_analysis_results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607084"/>
                          </a:solidFill>
                          <a:latin typeface="Microsoft YaHei"/>
                        </a:defRPr>
                      </a:pPr>
                      <a:r>
                        <a:t>AI 识别结果先落库，再支撑多维检索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607084"/>
                          </a:solidFill>
                          <a:latin typeface="Microsoft YaHei"/>
                        </a:defRPr>
                      </a:pPr>
                      <a:r>
                        <a:t>历史与审计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607084"/>
                          </a:solidFill>
                          <a:latin typeface="Microsoft YaHei"/>
                        </a:defRPr>
                      </a:pPr>
                      <a:r>
                        <a:t>image_versions, image_edit_operations, operation_logs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607084"/>
                          </a:solidFill>
                          <a:latin typeface="Microsoft YaHei"/>
                        </a:defRPr>
                      </a:pPr>
                      <a:r>
                        <a:t>编辑快照、版本恢复、操作留痕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607084"/>
                          </a:solidFill>
                          <a:latin typeface="Microsoft YaHei"/>
                        </a:defRPr>
                      </a:pPr>
                      <a:r>
                        <a:t>运行配置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607084"/>
                          </a:solidFill>
                          <a:latin typeface="Microsoft YaHei"/>
                        </a:defRPr>
                      </a:pPr>
                      <a:r>
                        <a:t>app_settings, search_history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607084"/>
                          </a:solidFill>
                          <a:latin typeface="Microsoft YaHei"/>
                        </a:defRPr>
                      </a:pPr>
                      <a:r>
                        <a:t>保存设置与搜索轨迹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607084"/>
                          </a:solidFill>
                          <a:latin typeface="Microsoft YaHei"/>
                        </a:defRPr>
                      </a:pPr>
                      <a:r>
                        <a:t>扩展预留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607084"/>
                          </a:solidFill>
                          <a:latin typeface="Microsoft YaHei"/>
                        </a:defRPr>
                      </a:pPr>
                      <a:r>
                        <a:t>cloud_sources, cloud_images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607084"/>
                          </a:solidFill>
                          <a:latin typeface="Microsoft YaHei"/>
                        </a:defRPr>
                      </a:pPr>
                      <a:r>
                        <a:t>仅说明为 WebDAV/云端同步的未来扩展接口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784080" y="-182880"/>
            <a:ext cx="2560320" cy="1920240"/>
          </a:xfrm>
          <a:prstGeom prst="roundRect">
            <a:avLst/>
          </a:prstGeom>
          <a:solidFill>
            <a:srgbClr val="DF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292608" y="5349240"/>
            <a:ext cx="2011680" cy="1463040"/>
          </a:xfrm>
          <a:prstGeom prst="roundRect">
            <a:avLst/>
          </a:prstGeom>
          <a:solidFill>
            <a:srgbClr val="E2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3108960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850" b="1">
                <a:solidFill>
                  <a:srgbClr val="2070CA"/>
                </a:solidFill>
                <a:latin typeface="Microsoft YaHei"/>
              </a:rPr>
              <a:t>数据库系统课程设计答辩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02920"/>
            <a:ext cx="6949440" cy="4114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2300" b="1">
                <a:solidFill>
                  <a:srgbClr val="132640"/>
                </a:solidFill>
                <a:latin typeface="Microsoft YaHei"/>
              </a:rPr>
              <a:t>高级数据库对象全景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32688"/>
            <a:ext cx="8412480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07084"/>
                </a:solidFill>
                <a:latin typeface="Microsoft YaHei"/>
              </a:rPr>
              <a:t>索引、视图、触发器、存储过程和递归 CTE 共同支撑性能与一致性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243584"/>
            <a:ext cx="1005840" cy="41148"/>
          </a:xfrm>
          <a:prstGeom prst="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72768" y="1243584"/>
            <a:ext cx="493776" cy="41148"/>
          </a:xfrm>
          <a:prstGeom prst="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18520" y="356616"/>
            <a:ext cx="502920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1000" b="1">
                <a:solidFill>
                  <a:srgbClr val="607084"/>
                </a:solidFill>
                <a:latin typeface="Microsoft YaHei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37376"/>
            <a:ext cx="530352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607084"/>
                </a:solidFill>
                <a:latin typeface="Microsoft YaHei"/>
              </a:rPr>
              <a:t>第07组 | 基于 PostgreSQL 的数字图像集成管理系统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4512" y="6437376"/>
            <a:ext cx="73152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750" b="0">
                <a:solidFill>
                  <a:srgbClr val="607084"/>
                </a:solidFill>
                <a:latin typeface="Microsoft YaHei"/>
              </a:rPr>
              <a:t>06 / 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572768"/>
            <a:ext cx="248716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1572768"/>
            <a:ext cx="73152" cy="1874519"/>
          </a:xfrm>
          <a:prstGeom prst="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1700784"/>
            <a:ext cx="2231136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32640"/>
                </a:solidFill>
                <a:latin typeface="Microsoft YaHei"/>
              </a:rPr>
              <a:t>视图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011680"/>
            <a:ext cx="2231136" cy="136245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780">
                <a:latin typeface="Microsoft YaHei"/>
              </a:defRPr>
            </a:pPr>
            <a:r>
              <a:rPr sz="780" b="0">
                <a:solidFill>
                  <a:srgbClr val="607084"/>
                </a:solidFill>
                <a:latin typeface="Microsoft YaHei"/>
              </a:rPr>
              <a:t>v_active_images</a:t>
            </a:r>
          </a:p>
          <a:p>
            <a:pPr>
              <a:lnSpc>
                <a:spcPct val="108000"/>
              </a:lnSpc>
              <a:defRPr sz="780">
                <a:latin typeface="Microsoft YaHei"/>
              </a:defRPr>
            </a:pPr>
            <a:r>
              <a:rPr sz="780" b="0">
                <a:solidFill>
                  <a:srgbClr val="607084"/>
                </a:solidFill>
                <a:latin typeface="Microsoft YaHei"/>
              </a:rPr>
              <a:t>v_directory_stats</a:t>
            </a:r>
          </a:p>
          <a:p>
            <a:pPr>
              <a:lnSpc>
                <a:spcPct val="108000"/>
              </a:lnSpc>
              <a:defRPr sz="780">
                <a:latin typeface="Microsoft YaHei"/>
              </a:defRPr>
            </a:pPr>
            <a:r>
              <a:rPr sz="780" b="0">
                <a:solidFill>
                  <a:srgbClr val="607084"/>
                </a:solidFill>
                <a:latin typeface="Microsoft YaHei"/>
              </a:rPr>
              <a:t>v_image_search</a:t>
            </a:r>
          </a:p>
          <a:p>
            <a:pPr>
              <a:lnSpc>
                <a:spcPct val="108000"/>
              </a:lnSpc>
              <a:defRPr sz="780">
                <a:latin typeface="Microsoft YaHei"/>
              </a:defRPr>
            </a:pPr>
            <a:r>
              <a:rPr sz="780" b="0">
                <a:solidFill>
                  <a:srgbClr val="607084"/>
                </a:solidFill>
                <a:latin typeface="Microsoft YaHei"/>
              </a:rPr>
              <a:t>v_tag_stats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47287" y="1572768"/>
            <a:ext cx="248716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47287" y="1572768"/>
            <a:ext cx="73152" cy="1874519"/>
          </a:xfrm>
          <a:prstGeom prst="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3591" y="1700784"/>
            <a:ext cx="2231136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32640"/>
                </a:solidFill>
                <a:latin typeface="Microsoft YaHei"/>
              </a:rPr>
              <a:t>索引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1" y="2011680"/>
            <a:ext cx="2231136" cy="136245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780">
                <a:latin typeface="Microsoft YaHei"/>
              </a:defRPr>
            </a:pPr>
            <a:r>
              <a:rPr sz="780" b="0">
                <a:solidFill>
                  <a:srgbClr val="607084"/>
                </a:solidFill>
                <a:latin typeface="Microsoft YaHei"/>
              </a:rPr>
              <a:t>idx_images_directory_id</a:t>
            </a:r>
          </a:p>
          <a:p>
            <a:pPr>
              <a:lnSpc>
                <a:spcPct val="108000"/>
              </a:lnSpc>
              <a:defRPr sz="780">
                <a:latin typeface="Microsoft YaHei"/>
              </a:defRPr>
            </a:pPr>
            <a:r>
              <a:rPr sz="780" b="0">
                <a:solidFill>
                  <a:srgbClr val="607084"/>
                </a:solidFill>
                <a:latin typeface="Microsoft YaHei"/>
              </a:rPr>
              <a:t>idx_tags_name_trgm</a:t>
            </a:r>
          </a:p>
          <a:p>
            <a:pPr>
              <a:lnSpc>
                <a:spcPct val="108000"/>
              </a:lnSpc>
              <a:defRPr sz="780">
                <a:latin typeface="Microsoft YaHei"/>
              </a:defRPr>
            </a:pPr>
            <a:r>
              <a:rPr sz="780" b="0">
                <a:solidFill>
                  <a:srgbClr val="607084"/>
                </a:solidFill>
                <a:latin typeface="Microsoft YaHei"/>
              </a:rPr>
              <a:t>idx_ai_desc_trgm</a:t>
            </a:r>
          </a:p>
          <a:p>
            <a:pPr>
              <a:lnSpc>
                <a:spcPct val="108000"/>
              </a:lnSpc>
              <a:defRPr sz="780">
                <a:latin typeface="Microsoft YaHei"/>
              </a:defRPr>
            </a:pPr>
            <a:r>
              <a:rPr sz="780" b="0">
                <a:solidFill>
                  <a:srgbClr val="607084"/>
                </a:solidFill>
                <a:latin typeface="Microsoft YaHei"/>
              </a:rPr>
              <a:t>idx_versions_current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7" y="1572768"/>
            <a:ext cx="248716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7" y="1572768"/>
            <a:ext cx="73152" cy="1874519"/>
          </a:xfrm>
          <a:prstGeom prst="rect">
            <a:avLst/>
          </a:prstGeom>
          <a:solidFill>
            <a:srgbClr val="2AA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1700784"/>
            <a:ext cx="2231136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32640"/>
                </a:solidFill>
                <a:latin typeface="Microsoft YaHei"/>
              </a:rPr>
              <a:t>触发器/函数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011680"/>
            <a:ext cx="2231136" cy="136245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780">
                <a:latin typeface="Microsoft YaHei"/>
              </a:defRPr>
            </a:pPr>
            <a:r>
              <a:rPr sz="780" b="0">
                <a:solidFill>
                  <a:srgbClr val="607084"/>
                </a:solidFill>
                <a:latin typeface="Microsoft YaHei"/>
              </a:rPr>
              <a:t>trg_image_after_insert</a:t>
            </a:r>
          </a:p>
          <a:p>
            <a:pPr>
              <a:lnSpc>
                <a:spcPct val="108000"/>
              </a:lnSpc>
              <a:defRPr sz="780">
                <a:latin typeface="Microsoft YaHei"/>
              </a:defRPr>
            </a:pPr>
            <a:r>
              <a:rPr sz="780" b="0">
                <a:solidFill>
                  <a:srgbClr val="607084"/>
                </a:solidFill>
                <a:latin typeface="Microsoft YaHei"/>
              </a:rPr>
              <a:t>trg_image_before_update</a:t>
            </a:r>
          </a:p>
          <a:p>
            <a:pPr>
              <a:lnSpc>
                <a:spcPct val="108000"/>
              </a:lnSpc>
              <a:defRPr sz="780">
                <a:latin typeface="Microsoft YaHei"/>
              </a:defRPr>
            </a:pPr>
            <a:r>
              <a:rPr sz="780" b="0">
                <a:solidFill>
                  <a:srgbClr val="607084"/>
                </a:solidFill>
                <a:latin typeface="Microsoft YaHei"/>
              </a:rPr>
              <a:t>fn_log_tag_change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25128" y="1572768"/>
            <a:ext cx="248716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25128" y="1572768"/>
            <a:ext cx="73152" cy="1874519"/>
          </a:xfrm>
          <a:prstGeom prst="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71432" y="1700784"/>
            <a:ext cx="2231136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32640"/>
                </a:solidFill>
                <a:latin typeface="Microsoft YaHei"/>
              </a:rPr>
              <a:t>存储过程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32" y="2011680"/>
            <a:ext cx="2231136" cy="136245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780">
                <a:latin typeface="Microsoft YaHei"/>
              </a:defRPr>
            </a:pPr>
            <a:r>
              <a:rPr sz="780" b="0">
                <a:solidFill>
                  <a:srgbClr val="607084"/>
                </a:solidFill>
                <a:latin typeface="Microsoft YaHei"/>
              </a:rPr>
              <a:t>sp_monthly_report</a:t>
            </a:r>
          </a:p>
          <a:p>
            <a:pPr>
              <a:lnSpc>
                <a:spcPct val="108000"/>
              </a:lnSpc>
              <a:defRPr sz="780">
                <a:latin typeface="Microsoft YaHei"/>
              </a:defRPr>
            </a:pPr>
            <a:r>
              <a:rPr sz="780" b="0">
                <a:solidFill>
                  <a:srgbClr val="607084"/>
                </a:solidFill>
                <a:latin typeface="Microsoft YaHei"/>
              </a:rPr>
              <a:t>sp_batch_rename</a:t>
            </a:r>
          </a:p>
          <a:p>
            <a:pPr>
              <a:lnSpc>
                <a:spcPct val="108000"/>
              </a:lnSpc>
              <a:defRPr sz="780">
                <a:latin typeface="Microsoft YaHei"/>
              </a:defRPr>
            </a:pPr>
            <a:r>
              <a:rPr sz="780" b="0">
                <a:solidFill>
                  <a:srgbClr val="607084"/>
                </a:solidFill>
                <a:latin typeface="Microsoft YaHei"/>
              </a:rPr>
              <a:t>sp_restore_version</a:t>
            </a:r>
          </a:p>
          <a:p>
            <a:pPr>
              <a:lnSpc>
                <a:spcPct val="108000"/>
              </a:lnSpc>
              <a:defRPr sz="780">
                <a:latin typeface="Microsoft YaHei"/>
              </a:defRPr>
            </a:pPr>
            <a:r>
              <a:rPr sz="780" b="0">
                <a:solidFill>
                  <a:srgbClr val="607084"/>
                </a:solidFill>
                <a:latin typeface="Microsoft YaHei"/>
              </a:rPr>
              <a:t>sp_batch_insert_tags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7552" y="4041648"/>
            <a:ext cx="5166360" cy="1664208"/>
          </a:xfrm>
          <a:prstGeom prst="roundRect">
            <a:avLst/>
          </a:prstGeom>
          <a:solidFill>
            <a:srgbClr val="142237"/>
          </a:solidFill>
          <a:ln w="12700">
            <a:solidFill>
              <a:srgbClr val="2B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151376"/>
            <a:ext cx="4946904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 b="0">
                <a:solidFill>
                  <a:srgbClr val="E5F3FF"/>
                </a:solidFill>
                <a:latin typeface="Consolas"/>
              </a:rPr>
              <a:t>WITH RECURSIVE dir_tree AS (
  SELECT directory_id, parent_id, path
  FROM directories WHERE parent_id IS NULL
  UNION ALL
  SELECT d.directory_id, d.parent_id, d.path
  FROM directories d JOIN dir_tree t
    ON d.parent_id = t.directory_id
)
SELECT * FROM dir_tree;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4041648"/>
            <a:ext cx="4462272" cy="1664208"/>
          </a:xfrm>
          <a:prstGeom prst="roundRect">
            <a:avLst/>
          </a:prstGeom>
          <a:solidFill>
            <a:srgbClr val="E2F6E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37960" y="4041648"/>
            <a:ext cx="73152" cy="1664208"/>
          </a:xfrm>
          <a:prstGeom prst="rect">
            <a:avLst/>
          </a:prstGeom>
          <a:solidFill>
            <a:srgbClr val="2AA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84264" y="4169663"/>
            <a:ext cx="4206240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250" b="1">
                <a:solidFill>
                  <a:srgbClr val="132640"/>
                </a:solidFill>
                <a:latin typeface="Microsoft YaHei"/>
              </a:rPr>
              <a:t>答辩抓手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84264" y="4480560"/>
            <a:ext cx="4206240" cy="11521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850">
                <a:latin typeface="Microsoft YaHei"/>
              </a:defRPr>
            </a:pPr>
            <a:r>
              <a:rPr sz="850" b="0">
                <a:solidFill>
                  <a:srgbClr val="607084"/>
                </a:solidFill>
                <a:latin typeface="Microsoft YaHei"/>
              </a:rPr>
              <a:t>不要只说“用了数据库”。要指出每类 SQL 对象怎样服务界面性能、搜索安全和一致性。</a:t>
            </a:r>
          </a:p>
          <a:p>
            <a:pPr>
              <a:lnSpc>
                <a:spcPct val="108000"/>
              </a:lnSpc>
              <a:defRPr sz="850">
                <a:latin typeface="Microsoft YaHei"/>
              </a:defRPr>
            </a:pPr>
            <a:r>
              <a:rPr sz="850" b="0">
                <a:solidFill>
                  <a:srgbClr val="607084"/>
                </a:solidFill>
                <a:latin typeface="Microsoft YaHei"/>
              </a:rPr>
              <a:t>老师追问时，优先打开 schema.sql 对应对象。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784080" y="-182880"/>
            <a:ext cx="2560320" cy="1920240"/>
          </a:xfrm>
          <a:prstGeom prst="roundRect">
            <a:avLst/>
          </a:prstGeom>
          <a:solidFill>
            <a:srgbClr val="DF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292608" y="5349240"/>
            <a:ext cx="2011680" cy="1463040"/>
          </a:xfrm>
          <a:prstGeom prst="roundRect">
            <a:avLst/>
          </a:prstGeom>
          <a:solidFill>
            <a:srgbClr val="E2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3108960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850" b="1">
                <a:solidFill>
                  <a:srgbClr val="2070CA"/>
                </a:solidFill>
                <a:latin typeface="Microsoft YaHei"/>
              </a:rPr>
              <a:t>数据库系统课程设计答辩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02920"/>
            <a:ext cx="6949440" cy="4114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2300" b="1">
                <a:solidFill>
                  <a:srgbClr val="132640"/>
                </a:solidFill>
                <a:latin typeface="Microsoft YaHei"/>
              </a:rPr>
              <a:t>完整磁盘目录树：懒加载 + 递归 CTE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32688"/>
            <a:ext cx="8412480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07084"/>
                </a:solidFill>
                <a:latin typeface="Microsoft YaHei"/>
              </a:rPr>
              <a:t>前台只展开当前需要的节点，数据库保留完整目录层级与路径统计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243584"/>
            <a:ext cx="1005840" cy="41148"/>
          </a:xfrm>
          <a:prstGeom prst="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72768" y="1243584"/>
            <a:ext cx="493776" cy="41148"/>
          </a:xfrm>
          <a:prstGeom prst="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18520" y="356616"/>
            <a:ext cx="502920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1000" b="1">
                <a:solidFill>
                  <a:srgbClr val="607084"/>
                </a:solidFill>
                <a:latin typeface="Microsoft YaHei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37376"/>
            <a:ext cx="530352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607084"/>
                </a:solidFill>
                <a:latin typeface="Microsoft YaHei"/>
              </a:rPr>
              <a:t>第07组 | 基于 PostgreSQL 的数字图像集成管理系统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4512" y="6437376"/>
            <a:ext cx="73152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750" b="0">
                <a:solidFill>
                  <a:srgbClr val="607084"/>
                </a:solidFill>
                <a:latin typeface="Microsoft YaHei"/>
              </a:rPr>
              <a:t>07 / 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536192"/>
            <a:ext cx="29260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1536192"/>
            <a:ext cx="73152" cy="4251960"/>
          </a:xfrm>
          <a:prstGeom prst="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1664207"/>
            <a:ext cx="2670048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32640"/>
                </a:solidFill>
                <a:latin typeface="Microsoft YaHei"/>
              </a:rPr>
              <a:t>目录树状态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1965960"/>
            <a:ext cx="118872" cy="118872"/>
          </a:xfrm>
          <a:prstGeom prst="round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1929384"/>
            <a:ext cx="192024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900" b="0">
                <a:solidFill>
                  <a:srgbClr val="132640"/>
                </a:solidFill>
                <a:latin typeface="Microsoft YaHei"/>
              </a:rPr>
              <a:t>D:/Pictures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61288" y="2404872"/>
            <a:ext cx="118872" cy="118872"/>
          </a:xfrm>
          <a:prstGeom prst="round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44168" y="2368296"/>
            <a:ext cx="192024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900" b="0">
                <a:solidFill>
                  <a:srgbClr val="607084"/>
                </a:solidFill>
                <a:latin typeface="Microsoft YaHei"/>
              </a:rPr>
              <a:t>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89888" y="2843784"/>
            <a:ext cx="118872" cy="118872"/>
          </a:xfrm>
          <a:prstGeom prst="round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72768" y="2807208"/>
            <a:ext cx="192024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900" b="0">
                <a:solidFill>
                  <a:srgbClr val="607084"/>
                </a:solidFill>
                <a:latin typeface="Microsoft YaHei"/>
              </a:rPr>
              <a:t>课程设计截图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89888" y="3282696"/>
            <a:ext cx="118872" cy="118872"/>
          </a:xfrm>
          <a:prstGeom prst="round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72768" y="3246120"/>
            <a:ext cx="192024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900" b="0">
                <a:solidFill>
                  <a:srgbClr val="607084"/>
                </a:solidFill>
                <a:latin typeface="Microsoft YaHei"/>
              </a:rPr>
              <a:t>相册备份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61288" y="3721608"/>
            <a:ext cx="118872" cy="118872"/>
          </a:xfrm>
          <a:prstGeom prst="round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4168" y="3685032"/>
            <a:ext cx="192024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900" b="0">
                <a:solidFill>
                  <a:srgbClr val="607084"/>
                </a:solidFill>
                <a:latin typeface="Microsoft YaHei"/>
              </a:rPr>
              <a:t>旅行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61288" y="4160520"/>
            <a:ext cx="118872" cy="118872"/>
          </a:xfrm>
          <a:prstGeom prst="round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4168" y="4123944"/>
            <a:ext cx="192024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900" b="0">
                <a:solidFill>
                  <a:srgbClr val="607084"/>
                </a:solidFill>
                <a:latin typeface="Microsoft YaHei"/>
              </a:rPr>
              <a:t>待整理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60520" y="1572768"/>
            <a:ext cx="3063240" cy="1234440"/>
          </a:xfrm>
          <a:prstGeom prst="roundRect">
            <a:avLst/>
          </a:prstGeom>
          <a:solidFill>
            <a:srgbClr val="142237"/>
          </a:solidFill>
          <a:ln w="12700">
            <a:solidFill>
              <a:srgbClr val="2B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70248" y="1682495"/>
            <a:ext cx="2843784" cy="1033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E5F3FF"/>
                </a:solidFill>
                <a:latin typeface="Consolas"/>
              </a:rPr>
              <a:t>DirectoryTreeView
  -&gt; expand node
  -&gt; query children by parent_id
  -&gt; update UI without full scan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71231" y="1572768"/>
            <a:ext cx="3474720" cy="1234440"/>
          </a:xfrm>
          <a:prstGeom prst="roundRect">
            <a:avLst/>
          </a:prstGeom>
          <a:solidFill>
            <a:srgbClr val="E2F1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71231" y="1572768"/>
            <a:ext cx="73152" cy="1234440"/>
          </a:xfrm>
          <a:prstGeom prst="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17536" y="1700784"/>
            <a:ext cx="3218687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32640"/>
                </a:solidFill>
                <a:latin typeface="Microsoft YaHei"/>
              </a:rPr>
              <a:t>数据库价值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17536" y="2011680"/>
            <a:ext cx="3218687" cy="7223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840">
                <a:latin typeface="Microsoft YaHei"/>
              </a:defRPr>
            </a:pPr>
            <a:r>
              <a:rPr sz="840" b="0">
                <a:solidFill>
                  <a:srgbClr val="607084"/>
                </a:solidFill>
                <a:latin typeface="Microsoft YaHei"/>
              </a:rPr>
              <a:t>目录层级在 directories 中自引用存储，路径统计由 v_directory_stats 支撑。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60520" y="3401568"/>
            <a:ext cx="2084831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60520" y="3401568"/>
            <a:ext cx="73152" cy="1234440"/>
          </a:xfrm>
          <a:prstGeom prst="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06824" y="3529584"/>
            <a:ext cx="1828799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32640"/>
                </a:solidFill>
                <a:latin typeface="Microsoft YaHei"/>
              </a:rPr>
              <a:t>懒加载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06824" y="3840480"/>
            <a:ext cx="1828799" cy="7223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810">
                <a:latin typeface="Microsoft YaHei"/>
              </a:defRPr>
            </a:pPr>
            <a:r>
              <a:rPr sz="810" b="0">
                <a:solidFill>
                  <a:srgbClr val="607084"/>
                </a:solidFill>
                <a:latin typeface="Microsoft YaHei"/>
              </a:rPr>
              <a:t>只查当前展开节点，避免启动时遍历整盘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3401568"/>
            <a:ext cx="2084831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92240" y="3401568"/>
            <a:ext cx="73152" cy="1234440"/>
          </a:xfrm>
          <a:prstGeom prst="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38544" y="3529584"/>
            <a:ext cx="1828799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32640"/>
                </a:solidFill>
                <a:latin typeface="Microsoft YaHei"/>
              </a:rPr>
              <a:t>递归 CTE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38544" y="3840480"/>
            <a:ext cx="1828799" cy="7223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810">
                <a:latin typeface="Microsoft YaHei"/>
              </a:defRPr>
            </a:pPr>
            <a:r>
              <a:rPr sz="810" b="0">
                <a:solidFill>
                  <a:srgbClr val="607084"/>
                </a:solidFill>
                <a:latin typeface="Microsoft YaHei"/>
              </a:rPr>
              <a:t>需要全局树或统计时由数据库递归展开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23959" y="3401568"/>
            <a:ext cx="2084831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823959" y="3401568"/>
            <a:ext cx="73152" cy="1234440"/>
          </a:xfrm>
          <a:prstGeom prst="rect">
            <a:avLst/>
          </a:prstGeom>
          <a:solidFill>
            <a:srgbClr val="2AA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70263" y="3529584"/>
            <a:ext cx="1828799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32640"/>
                </a:solidFill>
                <a:latin typeface="Microsoft YaHei"/>
              </a:rPr>
              <a:t>后台扫描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70263" y="3840480"/>
            <a:ext cx="1828799" cy="7223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810">
                <a:latin typeface="Microsoft YaHei"/>
              </a:defRPr>
            </a:pPr>
            <a:r>
              <a:rPr sz="810" b="0">
                <a:solidFill>
                  <a:srgbClr val="607084"/>
                </a:solidFill>
                <a:latin typeface="Microsoft YaHei"/>
              </a:rPr>
              <a:t>ScanTask 在独立线程入库，不阻塞 JavaFX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784080" y="-182880"/>
            <a:ext cx="2560320" cy="1920240"/>
          </a:xfrm>
          <a:prstGeom prst="roundRect">
            <a:avLst/>
          </a:prstGeom>
          <a:solidFill>
            <a:srgbClr val="DF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292608" y="5349240"/>
            <a:ext cx="2011680" cy="1463040"/>
          </a:xfrm>
          <a:prstGeom prst="roundRect">
            <a:avLst/>
          </a:prstGeom>
          <a:solidFill>
            <a:srgbClr val="E2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3108960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850" b="1">
                <a:solidFill>
                  <a:srgbClr val="2070CA"/>
                </a:solidFill>
                <a:latin typeface="Microsoft YaHei"/>
              </a:rPr>
              <a:t>数据库系统课程设计答辩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02920"/>
            <a:ext cx="6949440" cy="4114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2300" b="1">
                <a:solidFill>
                  <a:srgbClr val="132640"/>
                </a:solidFill>
                <a:latin typeface="Microsoft YaHei"/>
              </a:rPr>
              <a:t>图片入库链路：缩略图、元数据与 bytea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32688"/>
            <a:ext cx="8412480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07084"/>
                </a:solidFill>
                <a:latin typeface="Microsoft YaHei"/>
              </a:rPr>
              <a:t>扫描目录后把文件系统信息结构化，缩略图缓存直接服务主界面渲染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243584"/>
            <a:ext cx="1005840" cy="41148"/>
          </a:xfrm>
          <a:prstGeom prst="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72768" y="1243584"/>
            <a:ext cx="493776" cy="41148"/>
          </a:xfrm>
          <a:prstGeom prst="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18520" y="356616"/>
            <a:ext cx="502920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1000" b="1">
                <a:solidFill>
                  <a:srgbClr val="607084"/>
                </a:solidFill>
                <a:latin typeface="Microsoft YaHei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37376"/>
            <a:ext cx="530352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607084"/>
                </a:solidFill>
                <a:latin typeface="Microsoft YaHei"/>
              </a:rPr>
              <a:t>第07组 | 基于 PostgreSQL 的数字图像集成管理系统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4512" y="6437376"/>
            <a:ext cx="73152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750" b="0">
                <a:solidFill>
                  <a:srgbClr val="607084"/>
                </a:solidFill>
                <a:latin typeface="Microsoft YaHei"/>
              </a:rPr>
              <a:t>08 / 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965960"/>
            <a:ext cx="17830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1965960"/>
            <a:ext cx="73152" cy="1078992"/>
          </a:xfrm>
          <a:prstGeom prst="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093976"/>
            <a:ext cx="1527048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050" b="1">
                <a:solidFill>
                  <a:srgbClr val="132640"/>
                </a:solidFill>
                <a:latin typeface="Microsoft YaHei"/>
              </a:rPr>
              <a:t>Files.walkFileTree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404872"/>
            <a:ext cx="1527048" cy="56692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800">
                <a:latin typeface="Microsoft YaHei"/>
              </a:defRPr>
            </a:pPr>
            <a:r>
              <a:rPr sz="800" b="0">
                <a:solidFill>
                  <a:srgbClr val="607084"/>
                </a:solidFill>
                <a:latin typeface="Microsoft YaHei"/>
              </a:rPr>
              <a:t>遍历目录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96312" y="2487168"/>
            <a:ext cx="365760" cy="0"/>
          </a:xfrm>
          <a:prstGeom prst="line">
            <a:avLst/>
          </a:prstGeom>
          <a:ln w="20320">
            <a:solidFill>
              <a:srgbClr val="207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26080" y="1965960"/>
            <a:ext cx="17830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26080" y="1965960"/>
            <a:ext cx="73152" cy="1078992"/>
          </a:xfrm>
          <a:prstGeom prst="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72384" y="2093976"/>
            <a:ext cx="1527048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050" b="1">
                <a:solidFill>
                  <a:srgbClr val="132640"/>
                </a:solidFill>
                <a:latin typeface="Microsoft YaHei"/>
              </a:rPr>
              <a:t>ImageService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72384" y="2404872"/>
            <a:ext cx="1527048" cy="56692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800">
                <a:latin typeface="Microsoft YaHei"/>
              </a:defRPr>
            </a:pPr>
            <a:r>
              <a:rPr sz="800" b="0">
                <a:solidFill>
                  <a:srgbClr val="607084"/>
                </a:solidFill>
                <a:latin typeface="Microsoft YaHei"/>
              </a:rPr>
              <a:t>读取元数据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09160" y="2487168"/>
            <a:ext cx="365760" cy="0"/>
          </a:xfrm>
          <a:prstGeom prst="line">
            <a:avLst/>
          </a:prstGeom>
          <a:ln w="20320">
            <a:solidFill>
              <a:srgbClr val="207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138928" y="1965960"/>
            <a:ext cx="17830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38928" y="1965960"/>
            <a:ext cx="73152" cy="1078992"/>
          </a:xfrm>
          <a:prstGeom prst="rect">
            <a:avLst/>
          </a:prstGeom>
          <a:solidFill>
            <a:srgbClr val="2AA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85232" y="2093976"/>
            <a:ext cx="1527048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050" b="1">
                <a:solidFill>
                  <a:srgbClr val="132640"/>
                </a:solidFill>
                <a:latin typeface="Microsoft YaHei"/>
              </a:rPr>
              <a:t>Thumbnail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2" y="2404872"/>
            <a:ext cx="1527048" cy="56692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800">
                <a:latin typeface="Microsoft YaHei"/>
              </a:defRPr>
            </a:pPr>
            <a:r>
              <a:rPr sz="800" b="0">
                <a:solidFill>
                  <a:srgbClr val="607084"/>
                </a:solidFill>
                <a:latin typeface="Microsoft YaHei"/>
              </a:rPr>
              <a:t>生成 bytea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922008" y="2487168"/>
            <a:ext cx="365760" cy="0"/>
          </a:xfrm>
          <a:prstGeom prst="line">
            <a:avLst/>
          </a:prstGeom>
          <a:ln w="20320">
            <a:solidFill>
              <a:srgbClr val="207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51775" y="1965960"/>
            <a:ext cx="17830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51775" y="1965960"/>
            <a:ext cx="73152" cy="1078992"/>
          </a:xfrm>
          <a:prstGeom prst="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79" y="2093976"/>
            <a:ext cx="1527048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050" b="1">
                <a:solidFill>
                  <a:srgbClr val="132640"/>
                </a:solidFill>
                <a:latin typeface="Microsoft YaHei"/>
              </a:rPr>
              <a:t>images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2404872"/>
            <a:ext cx="1527048" cy="56692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800">
                <a:latin typeface="Microsoft YaHei"/>
              </a:defRPr>
            </a:pPr>
            <a:r>
              <a:rPr sz="800" b="0">
                <a:solidFill>
                  <a:srgbClr val="607084"/>
                </a:solidFill>
                <a:latin typeface="Microsoft YaHei"/>
              </a:rPr>
              <a:t>写入主表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34855" y="2487168"/>
            <a:ext cx="365760" cy="0"/>
          </a:xfrm>
          <a:prstGeom prst="line">
            <a:avLst/>
          </a:prstGeom>
          <a:ln w="20320">
            <a:solidFill>
              <a:srgbClr val="207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64624" y="1965960"/>
            <a:ext cx="17830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64624" y="1965960"/>
            <a:ext cx="73152" cy="1078992"/>
          </a:xfrm>
          <a:prstGeom prst="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10928" y="2093976"/>
            <a:ext cx="1527048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050" b="1">
                <a:solidFill>
                  <a:srgbClr val="132640"/>
                </a:solidFill>
                <a:latin typeface="Microsoft YaHei"/>
              </a:rPr>
              <a:t>UI Grid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0928" y="2404872"/>
            <a:ext cx="1527048" cy="56692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800">
                <a:latin typeface="Microsoft YaHei"/>
              </a:defRPr>
            </a:pPr>
            <a:r>
              <a:rPr sz="800" b="0">
                <a:solidFill>
                  <a:srgbClr val="607084"/>
                </a:solidFill>
                <a:latin typeface="Microsoft YaHei"/>
              </a:rPr>
              <a:t>快速渲染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749808" y="3913632"/>
          <a:ext cx="5257800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</a:tblGrid>
              <a:tr h="393192"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132640"/>
                          </a:solidFill>
                          <a:latin typeface="Microsoft YaHei"/>
                        </a:defRPr>
                      </a:pPr>
                      <a:r>
                        <a:t>字段</a:t>
                      </a:r>
                    </a:p>
                  </a:txBody>
                  <a:tcPr marL="36576" marR="36576" marT="27432" marB="27432">
                    <a:solidFill>
                      <a:srgbClr val="E2F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132640"/>
                          </a:solidFill>
                          <a:latin typeface="Microsoft YaHei"/>
                        </a:defRPr>
                      </a:pPr>
                      <a:r>
                        <a:t>来源</a:t>
                      </a:r>
                    </a:p>
                  </a:txBody>
                  <a:tcPr marL="36576" marR="36576" marT="27432" marB="27432">
                    <a:solidFill>
                      <a:srgbClr val="E2F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132640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 marL="36576" marR="36576" marT="27432" marB="27432">
                    <a:solidFill>
                      <a:srgbClr val="E2F1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607084"/>
                          </a:solidFill>
                          <a:latin typeface="Microsoft YaHei"/>
                        </a:defRPr>
                      </a:pPr>
                      <a:r>
                        <a:t>file_path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607084"/>
                          </a:solidFill>
                          <a:latin typeface="Microsoft YaHei"/>
                        </a:defRPr>
                      </a:pPr>
                      <a:r>
                        <a:t>磁盘路径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607084"/>
                          </a:solidFill>
                          <a:latin typeface="Microsoft YaHei"/>
                        </a:defRPr>
                      </a:pPr>
                      <a:r>
                        <a:t>定位与去重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607084"/>
                          </a:solidFill>
                          <a:latin typeface="Microsoft YaHei"/>
                        </a:defRPr>
                      </a:pPr>
                      <a:r>
                        <a:t>file_hash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607084"/>
                          </a:solidFill>
                          <a:latin typeface="Microsoft YaHei"/>
                        </a:defRPr>
                      </a:pPr>
                      <a:r>
                        <a:t>文件内容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607084"/>
                          </a:solidFill>
                          <a:latin typeface="Microsoft YaHei"/>
                        </a:defRPr>
                      </a:pPr>
                      <a:r>
                        <a:t>重复图片识别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607084"/>
                          </a:solidFill>
                          <a:latin typeface="Microsoft YaHei"/>
                        </a:defRPr>
                      </a:pPr>
                      <a:r>
                        <a:t>thumbnail bytea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607084"/>
                          </a:solidFill>
                          <a:latin typeface="Microsoft YaHei"/>
                        </a:defRPr>
                      </a:pPr>
                      <a:r>
                        <a:t>缩略图生成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607084"/>
                          </a:solidFill>
                          <a:latin typeface="Microsoft YaHei"/>
                        </a:defRPr>
                      </a:pPr>
                      <a:r>
                        <a:t>列表页快速显示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Rounded Rectangle 36"/>
          <p:cNvSpPr/>
          <p:nvPr/>
        </p:nvSpPr>
        <p:spPr>
          <a:xfrm>
            <a:off x="6537960" y="3730752"/>
            <a:ext cx="42519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real_02_主界面_1200x800_默认窗口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630" y="3730752"/>
            <a:ext cx="2674620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784080" y="-182880"/>
            <a:ext cx="2560320" cy="1920240"/>
          </a:xfrm>
          <a:prstGeom prst="roundRect">
            <a:avLst/>
          </a:prstGeom>
          <a:solidFill>
            <a:srgbClr val="DF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292608" y="5349240"/>
            <a:ext cx="2011680" cy="1463040"/>
          </a:xfrm>
          <a:prstGeom prst="roundRect">
            <a:avLst/>
          </a:prstGeom>
          <a:solidFill>
            <a:srgbClr val="E2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3108960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850" b="1">
                <a:solidFill>
                  <a:srgbClr val="2070CA"/>
                </a:solidFill>
                <a:latin typeface="Microsoft YaHei"/>
              </a:rPr>
              <a:t>数据库系统课程设计答辩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02920"/>
            <a:ext cx="6949440" cy="4114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2300" b="1">
                <a:solidFill>
                  <a:srgbClr val="132640"/>
                </a:solidFill>
                <a:latin typeface="Microsoft YaHei"/>
              </a:rPr>
              <a:t>后台基座：连接池、预编译与事务回滚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32688"/>
            <a:ext cx="8412480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07084"/>
                </a:solidFill>
                <a:latin typeface="Microsoft YaHei"/>
              </a:rPr>
              <a:t>HikariCP 管连接，PreparedStatement 防注入，批量操作失败即回滚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243584"/>
            <a:ext cx="1005840" cy="41148"/>
          </a:xfrm>
          <a:prstGeom prst="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72768" y="1243584"/>
            <a:ext cx="493776" cy="41148"/>
          </a:xfrm>
          <a:prstGeom prst="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18520" y="356616"/>
            <a:ext cx="502920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1000" b="1">
                <a:solidFill>
                  <a:srgbClr val="607084"/>
                </a:solidFill>
                <a:latin typeface="Microsoft YaHei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37376"/>
            <a:ext cx="530352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607084"/>
                </a:solidFill>
                <a:latin typeface="Microsoft YaHei"/>
              </a:rPr>
              <a:t>第07组 | 基于 PostgreSQL 的数字图像集成管理系统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4512" y="6437376"/>
            <a:ext cx="73152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750" b="0">
                <a:solidFill>
                  <a:srgbClr val="607084"/>
                </a:solidFill>
                <a:latin typeface="Microsoft YaHei"/>
              </a:rPr>
              <a:t>09 / 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1508760"/>
            <a:ext cx="43891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0120" y="1508760"/>
            <a:ext cx="73152" cy="658368"/>
          </a:xfrm>
          <a:prstGeom prst="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" y="1636776"/>
            <a:ext cx="4133087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32640"/>
                </a:solidFill>
                <a:latin typeface="Microsoft YaHei"/>
              </a:rPr>
              <a:t>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" y="1947672"/>
            <a:ext cx="4133087" cy="146303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760">
                <a:latin typeface="Microsoft YaHei"/>
              </a:defRPr>
            </a:pPr>
            <a:r>
              <a:rPr sz="760" b="0">
                <a:solidFill>
                  <a:srgbClr val="607084"/>
                </a:solidFill>
                <a:latin typeface="Microsoft YaHei"/>
              </a:rPr>
              <a:t>JavaFX 事件、状态栏、用户反馈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54680" y="2167128"/>
            <a:ext cx="0" cy="228600"/>
          </a:xfrm>
          <a:prstGeom prst="line">
            <a:avLst/>
          </a:prstGeom>
          <a:ln w="15240">
            <a:solidFill>
              <a:srgbClr val="D3E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60120" y="2423160"/>
            <a:ext cx="43891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0120" y="2423160"/>
            <a:ext cx="73152" cy="658368"/>
          </a:xfrm>
          <a:prstGeom prst="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6424" y="2551176"/>
            <a:ext cx="4133087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32640"/>
                </a:solidFill>
                <a:latin typeface="Microsoft YaHei"/>
              </a:rPr>
              <a:t>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" y="2862072"/>
            <a:ext cx="4133087" cy="146303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760">
                <a:latin typeface="Microsoft YaHei"/>
              </a:defRPr>
            </a:pPr>
            <a:r>
              <a:rPr sz="760" b="0">
                <a:solidFill>
                  <a:srgbClr val="607084"/>
                </a:solidFill>
                <a:latin typeface="Microsoft YaHei"/>
              </a:rPr>
              <a:t>事务边界、批量重命名、扫描任务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54680" y="3081528"/>
            <a:ext cx="0" cy="228600"/>
          </a:xfrm>
          <a:prstGeom prst="line">
            <a:avLst/>
          </a:prstGeom>
          <a:ln w="15240">
            <a:solidFill>
              <a:srgbClr val="D3E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60120" y="3337560"/>
            <a:ext cx="43891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0120" y="3337560"/>
            <a:ext cx="73152" cy="658368"/>
          </a:xfrm>
          <a:prstGeom prst="rect">
            <a:avLst/>
          </a:prstGeom>
          <a:solidFill>
            <a:srgbClr val="2AA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6424" y="3465576"/>
            <a:ext cx="4133087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32640"/>
                </a:solidFill>
                <a:latin typeface="Microsoft YaHei"/>
              </a:rPr>
              <a:t>DAO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" y="3776472"/>
            <a:ext cx="4133087" cy="146303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760">
                <a:latin typeface="Microsoft YaHei"/>
              </a:defRPr>
            </a:pPr>
            <a:r>
              <a:rPr sz="760" b="0">
                <a:solidFill>
                  <a:srgbClr val="607084"/>
                </a:solidFill>
                <a:latin typeface="Microsoft YaHei"/>
              </a:rPr>
              <a:t>PreparedStatement、结果映射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154680" y="3995928"/>
            <a:ext cx="0" cy="228600"/>
          </a:xfrm>
          <a:prstGeom prst="line">
            <a:avLst/>
          </a:prstGeom>
          <a:ln w="15240">
            <a:solidFill>
              <a:srgbClr val="D3E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60120" y="4251960"/>
            <a:ext cx="43891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0120" y="4251960"/>
            <a:ext cx="73152" cy="658368"/>
          </a:xfrm>
          <a:prstGeom prst="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6424" y="4379976"/>
            <a:ext cx="4133087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32640"/>
                </a:solidFill>
                <a:latin typeface="Microsoft YaHei"/>
              </a:rPr>
              <a:t>PostgreSQL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" y="4690872"/>
            <a:ext cx="4133087" cy="146303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760">
                <a:latin typeface="Microsoft YaHei"/>
              </a:defRPr>
            </a:pPr>
            <a:r>
              <a:rPr sz="760" b="0">
                <a:solidFill>
                  <a:srgbClr val="607084"/>
                </a:solidFill>
                <a:latin typeface="Microsoft YaHei"/>
              </a:rPr>
              <a:t>约束、索引、视图、触发器、过程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1508760"/>
            <a:ext cx="2103120" cy="1051560"/>
          </a:xfrm>
          <a:prstGeom prst="roundRect">
            <a:avLst/>
          </a:prstGeom>
          <a:solidFill>
            <a:srgbClr val="E2F1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89320" y="1508760"/>
            <a:ext cx="73152" cy="1051560"/>
          </a:xfrm>
          <a:prstGeom prst="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636776"/>
            <a:ext cx="1847087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32640"/>
                </a:solidFill>
                <a:latin typeface="Microsoft YaHei"/>
              </a:rPr>
              <a:t>HikariCP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35624" y="1947672"/>
            <a:ext cx="1847087" cy="53949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950">
                <a:latin typeface="Microsoft YaHei"/>
              </a:defRPr>
            </a:pPr>
            <a:r>
              <a:rPr sz="950" b="0">
                <a:solidFill>
                  <a:srgbClr val="607084"/>
                </a:solidFill>
                <a:latin typeface="Microsoft YaHei"/>
              </a:rPr>
              <a:t>连接复用</a:t>
            </a:r>
          </a:p>
          <a:p>
            <a:pPr>
              <a:lnSpc>
                <a:spcPct val="108000"/>
              </a:lnSpc>
              <a:defRPr sz="950">
                <a:latin typeface="Microsoft YaHei"/>
              </a:defRPr>
            </a:pPr>
            <a:r>
              <a:rPr sz="950" b="0">
                <a:solidFill>
                  <a:srgbClr val="607084"/>
                </a:solidFill>
                <a:latin typeface="Microsoft YaHei"/>
              </a:rPr>
              <a:t>降低频繁建连成本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58200" y="1508760"/>
            <a:ext cx="2103120" cy="1051560"/>
          </a:xfrm>
          <a:prstGeom prst="roundRect">
            <a:avLst/>
          </a:prstGeom>
          <a:solidFill>
            <a:srgbClr val="DFF8FC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458200" y="1508760"/>
            <a:ext cx="73152" cy="1051560"/>
          </a:xfrm>
          <a:prstGeom prst="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04504" y="1636776"/>
            <a:ext cx="1847087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32640"/>
                </a:solidFill>
                <a:latin typeface="Microsoft YaHei"/>
              </a:rPr>
              <a:t>PreparedStatement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04504" y="1947672"/>
            <a:ext cx="1847087" cy="53949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950">
                <a:latin typeface="Microsoft YaHei"/>
              </a:defRPr>
            </a:pPr>
            <a:r>
              <a:rPr sz="950" b="0">
                <a:solidFill>
                  <a:srgbClr val="607084"/>
                </a:solidFill>
                <a:latin typeface="Microsoft YaHei"/>
              </a:rPr>
              <a:t>参数绑定</a:t>
            </a:r>
          </a:p>
          <a:p>
            <a:pPr>
              <a:lnSpc>
                <a:spcPct val="108000"/>
              </a:lnSpc>
              <a:defRPr sz="950">
                <a:latin typeface="Microsoft YaHei"/>
              </a:defRPr>
            </a:pPr>
            <a:r>
              <a:rPr sz="950" b="0">
                <a:solidFill>
                  <a:srgbClr val="607084"/>
                </a:solidFill>
                <a:latin typeface="Microsoft YaHei"/>
              </a:rPr>
              <a:t>防 SQL 注入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89320" y="2971800"/>
            <a:ext cx="2103120" cy="1051560"/>
          </a:xfrm>
          <a:prstGeom prst="roundRect">
            <a:avLst/>
          </a:prstGeom>
          <a:solidFill>
            <a:srgbClr val="E2F6E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89320" y="2971800"/>
            <a:ext cx="73152" cy="1051560"/>
          </a:xfrm>
          <a:prstGeom prst="rect">
            <a:avLst/>
          </a:prstGeom>
          <a:solidFill>
            <a:srgbClr val="2AA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3099816"/>
            <a:ext cx="1847087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32640"/>
                </a:solidFill>
                <a:latin typeface="Microsoft YaHei"/>
              </a:rPr>
              <a:t>Transaction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35624" y="3410712"/>
            <a:ext cx="1847087" cy="53949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950">
                <a:latin typeface="Microsoft YaHei"/>
              </a:defRPr>
            </a:pPr>
            <a:r>
              <a:rPr sz="950" b="0">
                <a:solidFill>
                  <a:srgbClr val="607084"/>
                </a:solidFill>
                <a:latin typeface="Microsoft YaHei"/>
              </a:rPr>
              <a:t>批量操作</a:t>
            </a:r>
          </a:p>
          <a:p>
            <a:pPr>
              <a:lnSpc>
                <a:spcPct val="108000"/>
              </a:lnSpc>
              <a:defRPr sz="950">
                <a:latin typeface="Microsoft YaHei"/>
              </a:defRPr>
            </a:pPr>
            <a:r>
              <a:rPr sz="950" b="0">
                <a:solidFill>
                  <a:srgbClr val="607084"/>
                </a:solidFill>
                <a:latin typeface="Microsoft YaHei"/>
              </a:rPr>
              <a:t>失败回滚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58200" y="2971800"/>
            <a:ext cx="2103120" cy="1051560"/>
          </a:xfrm>
          <a:prstGeom prst="roundRect">
            <a:avLst/>
          </a:prstGeom>
          <a:solidFill>
            <a:srgbClr val="E2F1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458200" y="2971800"/>
            <a:ext cx="73152" cy="1051560"/>
          </a:xfrm>
          <a:prstGeom prst="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04504" y="3099816"/>
            <a:ext cx="1847087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32640"/>
                </a:solidFill>
                <a:latin typeface="Microsoft YaHei"/>
              </a:rPr>
              <a:t>Fallback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04504" y="3410712"/>
            <a:ext cx="1847087" cy="53949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950">
                <a:latin typeface="Microsoft YaHei"/>
              </a:defRPr>
            </a:pPr>
            <a:r>
              <a:rPr sz="950" b="0">
                <a:solidFill>
                  <a:srgbClr val="607084"/>
                </a:solidFill>
                <a:latin typeface="Microsoft YaHei"/>
              </a:rPr>
              <a:t>AI 不可用</a:t>
            </a:r>
          </a:p>
          <a:p>
            <a:pPr>
              <a:lnSpc>
                <a:spcPct val="108000"/>
              </a:lnSpc>
              <a:defRPr sz="950">
                <a:latin typeface="Microsoft YaHei"/>
              </a:defRPr>
            </a:pPr>
            <a:r>
              <a:rPr sz="950" b="0">
                <a:solidFill>
                  <a:srgbClr val="607084"/>
                </a:solidFill>
                <a:latin typeface="Microsoft YaHei"/>
              </a:rPr>
              <a:t>本地功能可用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89320" y="4462272"/>
            <a:ext cx="4572000" cy="1143000"/>
          </a:xfrm>
          <a:prstGeom prst="roundRect">
            <a:avLst/>
          </a:prstGeom>
          <a:solidFill>
            <a:srgbClr val="142237"/>
          </a:solidFill>
          <a:ln w="12700">
            <a:solidFill>
              <a:srgbClr val="2B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99048" y="4572000"/>
            <a:ext cx="4352544" cy="941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30" b="0">
                <a:solidFill>
                  <a:srgbClr val="E5F3FF"/>
                </a:solidFill>
                <a:latin typeface="Consolas"/>
              </a:rPr>
              <a:t>try (Connection c = dataSource.getConnection()) {
  c.setAutoCommit(false);
  dao.batchRename(c, items);
  c.commit();
} catch (Exception e) {
  rollbackQuietly(c);
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784080" y="-182880"/>
            <a:ext cx="2560320" cy="1920240"/>
          </a:xfrm>
          <a:prstGeom prst="roundRect">
            <a:avLst/>
          </a:prstGeom>
          <a:solidFill>
            <a:srgbClr val="DF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292608" y="5349240"/>
            <a:ext cx="2011680" cy="1463040"/>
          </a:xfrm>
          <a:prstGeom prst="roundRect">
            <a:avLst/>
          </a:prstGeom>
          <a:solidFill>
            <a:srgbClr val="E2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3108960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850" b="1">
                <a:solidFill>
                  <a:srgbClr val="2070CA"/>
                </a:solidFill>
                <a:latin typeface="Microsoft YaHei"/>
              </a:rPr>
              <a:t>数据库系统课程设计答辩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02920"/>
            <a:ext cx="6949440" cy="4114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2300" b="1">
                <a:solidFill>
                  <a:srgbClr val="132640"/>
                </a:solidFill>
                <a:latin typeface="Microsoft YaHei"/>
              </a:rPr>
              <a:t>AI 标签与 NL2SQL：能问，但只能安全地问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32688"/>
            <a:ext cx="8412480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07084"/>
                </a:solidFill>
                <a:latin typeface="Microsoft YaHei"/>
              </a:rPr>
              <a:t>AI 结果先落库；自然语言查询只允许走 v_image_search 只读视图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243584"/>
            <a:ext cx="1005840" cy="41148"/>
          </a:xfrm>
          <a:prstGeom prst="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72768" y="1243584"/>
            <a:ext cx="493776" cy="41148"/>
          </a:xfrm>
          <a:prstGeom prst="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18520" y="356616"/>
            <a:ext cx="502920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1000" b="1">
                <a:solidFill>
                  <a:srgbClr val="607084"/>
                </a:solidFill>
                <a:latin typeface="Microsoft YaHe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37376"/>
            <a:ext cx="530352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607084"/>
                </a:solidFill>
                <a:latin typeface="Microsoft YaHei"/>
              </a:rPr>
              <a:t>第07组 | 基于 PostgreSQL 的数字图像集成管理系统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4512" y="6437376"/>
            <a:ext cx="73152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750" b="0">
                <a:solidFill>
                  <a:srgbClr val="607084"/>
                </a:solidFill>
                <a:latin typeface="Microsoft YaHei"/>
              </a:rPr>
              <a:t>10 / 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755648"/>
            <a:ext cx="1737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1755648"/>
            <a:ext cx="73152" cy="914400"/>
          </a:xfrm>
          <a:prstGeom prst="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1883664"/>
            <a:ext cx="1481328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050" b="1">
                <a:solidFill>
                  <a:srgbClr val="132640"/>
                </a:solidFill>
                <a:latin typeface="Microsoft YaHei"/>
              </a:rPr>
              <a:t>图片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194560"/>
            <a:ext cx="1481328" cy="40233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780">
                <a:latin typeface="Microsoft YaHei"/>
              </a:defRPr>
            </a:pPr>
            <a:r>
              <a:rPr sz="780" b="0">
                <a:solidFill>
                  <a:srgbClr val="607084"/>
                </a:solidFill>
                <a:latin typeface="Microsoft YaHei"/>
              </a:rPr>
              <a:t>本地文件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95728" y="2212848"/>
            <a:ext cx="338328" cy="0"/>
          </a:xfrm>
          <a:prstGeom prst="line">
            <a:avLst/>
          </a:prstGeom>
          <a:ln w="19050">
            <a:solidFill>
              <a:srgbClr val="207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34639" y="1755648"/>
            <a:ext cx="1737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34639" y="1755648"/>
            <a:ext cx="73152" cy="914400"/>
          </a:xfrm>
          <a:prstGeom prst="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80944" y="1883664"/>
            <a:ext cx="1481328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050" b="1">
                <a:solidFill>
                  <a:srgbClr val="132640"/>
                </a:solidFill>
                <a:latin typeface="Microsoft YaHei"/>
              </a:rPr>
              <a:t>AI 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80944" y="2194560"/>
            <a:ext cx="1481328" cy="40233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780">
                <a:latin typeface="Microsoft YaHei"/>
              </a:defRPr>
            </a:pPr>
            <a:r>
              <a:rPr sz="780" b="0">
                <a:solidFill>
                  <a:srgbClr val="607084"/>
                </a:solidFill>
                <a:latin typeface="Microsoft YaHei"/>
              </a:rPr>
              <a:t>标签/描述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0" y="2212848"/>
            <a:ext cx="338327" cy="0"/>
          </a:xfrm>
          <a:prstGeom prst="line">
            <a:avLst/>
          </a:prstGeom>
          <a:ln w="19050">
            <a:solidFill>
              <a:srgbClr val="207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010912" y="1755648"/>
            <a:ext cx="1737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10912" y="1755648"/>
            <a:ext cx="73152" cy="914400"/>
          </a:xfrm>
          <a:prstGeom prst="rect">
            <a:avLst/>
          </a:prstGeom>
          <a:solidFill>
            <a:srgbClr val="2AA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57216" y="1883664"/>
            <a:ext cx="1481328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050" b="1">
                <a:solidFill>
                  <a:srgbClr val="132640"/>
                </a:solidFill>
                <a:latin typeface="Microsoft YaHei"/>
              </a:rPr>
              <a:t>tags + 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7216" y="2194560"/>
            <a:ext cx="1481328" cy="40233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780">
                <a:latin typeface="Microsoft YaHei"/>
              </a:defRPr>
            </a:pPr>
            <a:r>
              <a:rPr sz="780" b="0">
                <a:solidFill>
                  <a:srgbClr val="607084"/>
                </a:solidFill>
                <a:latin typeface="Microsoft YaHei"/>
              </a:rPr>
              <a:t>结构化落库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48271" y="2212848"/>
            <a:ext cx="338329" cy="0"/>
          </a:xfrm>
          <a:prstGeom prst="line">
            <a:avLst/>
          </a:prstGeom>
          <a:ln w="19050">
            <a:solidFill>
              <a:srgbClr val="207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87183" y="1755648"/>
            <a:ext cx="1737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87183" y="1755648"/>
            <a:ext cx="73152" cy="914400"/>
          </a:xfrm>
          <a:prstGeom prst="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3488" y="1883664"/>
            <a:ext cx="1481328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050" b="1">
                <a:solidFill>
                  <a:srgbClr val="132640"/>
                </a:solidFill>
                <a:latin typeface="Microsoft YaHei"/>
              </a:rPr>
              <a:t>v_image_search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33488" y="2194560"/>
            <a:ext cx="1481328" cy="40233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780">
                <a:latin typeface="Microsoft YaHei"/>
              </a:defRPr>
            </a:pPr>
            <a:r>
              <a:rPr sz="780" b="0">
                <a:solidFill>
                  <a:srgbClr val="607084"/>
                </a:solidFill>
                <a:latin typeface="Microsoft YaHei"/>
              </a:rPr>
              <a:t>只读外模式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924544" y="2212848"/>
            <a:ext cx="338328" cy="0"/>
          </a:xfrm>
          <a:prstGeom prst="line">
            <a:avLst/>
          </a:prstGeom>
          <a:ln w="19050">
            <a:solidFill>
              <a:srgbClr val="207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363456" y="1755648"/>
            <a:ext cx="1737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363456" y="1755648"/>
            <a:ext cx="73152" cy="914400"/>
          </a:xfrm>
          <a:prstGeom prst="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0" y="1883664"/>
            <a:ext cx="1481328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050" b="1">
                <a:solidFill>
                  <a:srgbClr val="132640"/>
                </a:solidFill>
                <a:latin typeface="Microsoft YaHei"/>
              </a:rPr>
              <a:t>搜索结果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2194560"/>
            <a:ext cx="1481328" cy="40233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780">
                <a:latin typeface="Microsoft YaHei"/>
              </a:defRPr>
            </a:pPr>
            <a:r>
              <a:rPr sz="780" b="0">
                <a:solidFill>
                  <a:srgbClr val="607084"/>
                </a:solidFill>
                <a:latin typeface="Microsoft YaHei"/>
              </a:rPr>
              <a:t>缩略图网格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8" y="3685032"/>
            <a:ext cx="2971800" cy="1444752"/>
          </a:xfrm>
          <a:prstGeom prst="roundRect">
            <a:avLst/>
          </a:prstGeom>
          <a:solidFill>
            <a:srgbClr val="E2F1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9808" y="3685032"/>
            <a:ext cx="73152" cy="1444752"/>
          </a:xfrm>
          <a:prstGeom prst="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" y="3813048"/>
            <a:ext cx="2715768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32640"/>
                </a:solidFill>
                <a:latin typeface="Microsoft YaHei"/>
              </a:rPr>
              <a:t>自然语言入口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" y="4123944"/>
            <a:ext cx="2715768" cy="9326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819">
                <a:latin typeface="Microsoft YaHei"/>
              </a:defRPr>
            </a:pPr>
            <a:r>
              <a:rPr sz="819" b="0">
                <a:solidFill>
                  <a:srgbClr val="607084"/>
                </a:solidFill>
                <a:latin typeface="Microsoft YaHei"/>
              </a:rPr>
              <a:t>“找上个月在北京拍的、带猫的图片”</a:t>
            </a:r>
          </a:p>
          <a:p>
            <a:pPr>
              <a:lnSpc>
                <a:spcPct val="108000"/>
              </a:lnSpc>
              <a:defRPr sz="819">
                <a:latin typeface="Microsoft YaHei"/>
              </a:defRPr>
            </a:pPr>
            <a:r>
              <a:rPr sz="819" b="0">
                <a:solidFill>
                  <a:srgbClr val="607084"/>
                </a:solidFill>
                <a:latin typeface="Microsoft YaHei"/>
              </a:rPr>
              <a:t>用户表达不直接进入数据库执行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60520" y="3685032"/>
            <a:ext cx="2971800" cy="1444752"/>
          </a:xfrm>
          <a:prstGeom prst="roundRect">
            <a:avLst/>
          </a:prstGeom>
          <a:solidFill>
            <a:srgbClr val="E2F6E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60520" y="3685032"/>
            <a:ext cx="73152" cy="1444752"/>
          </a:xfrm>
          <a:prstGeom prst="rect">
            <a:avLst/>
          </a:prstGeom>
          <a:solidFill>
            <a:srgbClr val="2AA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06824" y="3813048"/>
            <a:ext cx="2715768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32640"/>
                </a:solidFill>
                <a:latin typeface="Microsoft YaHei"/>
              </a:rPr>
              <a:t>SQL 安全闸门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06824" y="4123944"/>
            <a:ext cx="2715768" cy="9326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819">
                <a:latin typeface="Microsoft YaHei"/>
              </a:defRPr>
            </a:pPr>
            <a:r>
              <a:rPr sz="819" b="0">
                <a:solidFill>
                  <a:srgbClr val="607084"/>
                </a:solidFill>
                <a:latin typeface="Microsoft YaHei"/>
              </a:rPr>
              <a:t>只允许 SELECT</a:t>
            </a:r>
          </a:p>
          <a:p>
            <a:pPr>
              <a:lnSpc>
                <a:spcPct val="108000"/>
              </a:lnSpc>
              <a:defRPr sz="819">
                <a:latin typeface="Microsoft YaHei"/>
              </a:defRPr>
            </a:pPr>
            <a:r>
              <a:rPr sz="819" b="0">
                <a:solidFill>
                  <a:srgbClr val="607084"/>
                </a:solidFill>
                <a:latin typeface="Microsoft YaHei"/>
              </a:rPr>
              <a:t>禁止 DDL/DML</a:t>
            </a:r>
          </a:p>
          <a:p>
            <a:pPr>
              <a:lnSpc>
                <a:spcPct val="108000"/>
              </a:lnSpc>
              <a:defRPr sz="819">
                <a:latin typeface="Microsoft YaHei"/>
              </a:defRPr>
            </a:pPr>
            <a:r>
              <a:rPr sz="819" b="0">
                <a:solidFill>
                  <a:srgbClr val="607084"/>
                </a:solidFill>
                <a:latin typeface="Microsoft YaHei"/>
              </a:rPr>
              <a:t>绑定只读视图与白名单字段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71231" y="3685032"/>
            <a:ext cx="2971800" cy="1444752"/>
          </a:xfrm>
          <a:prstGeom prst="roundRect">
            <a:avLst/>
          </a:prstGeom>
          <a:solidFill>
            <a:srgbClr val="DFF8FC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71231" y="3685032"/>
            <a:ext cx="73152" cy="1444752"/>
          </a:xfrm>
          <a:prstGeom prst="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17536" y="3813048"/>
            <a:ext cx="2715768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32640"/>
                </a:solidFill>
                <a:latin typeface="Microsoft YaHei"/>
              </a:rPr>
              <a:t>数据库得分点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17536" y="4123944"/>
            <a:ext cx="2715768" cy="9326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819">
                <a:latin typeface="Microsoft YaHei"/>
              </a:defRPr>
            </a:pPr>
            <a:r>
              <a:rPr sz="819" b="0">
                <a:solidFill>
                  <a:srgbClr val="607084"/>
                </a:solidFill>
                <a:latin typeface="Microsoft YaHei"/>
              </a:rPr>
              <a:t>AI 是入口，PostgreSQL 才是持久化、检索与安全边界。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784080" y="-182880"/>
            <a:ext cx="2560320" cy="1920240"/>
          </a:xfrm>
          <a:prstGeom prst="roundRect">
            <a:avLst/>
          </a:prstGeom>
          <a:solidFill>
            <a:srgbClr val="DF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292608" y="5349240"/>
            <a:ext cx="2011680" cy="1463040"/>
          </a:xfrm>
          <a:prstGeom prst="roundRect">
            <a:avLst/>
          </a:prstGeom>
          <a:solidFill>
            <a:srgbClr val="E2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3108960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850" b="1">
                <a:solidFill>
                  <a:srgbClr val="2070CA"/>
                </a:solidFill>
                <a:latin typeface="Microsoft YaHei"/>
              </a:rPr>
              <a:t>数据库系统课程设计答辩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02920"/>
            <a:ext cx="6949440" cy="4114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2300" b="1">
                <a:solidFill>
                  <a:srgbClr val="132640"/>
                </a:solidFill>
                <a:latin typeface="Microsoft YaHei"/>
              </a:rPr>
              <a:t>版本历史：从编辑行为回到数据库一致性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32688"/>
            <a:ext cx="8412480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07084"/>
                </a:solidFill>
                <a:latin typeface="Microsoft YaHei"/>
              </a:rPr>
              <a:t>image_versions 记录快照，sp_restore_version 支撑恢复，operation_logs 留痕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243584"/>
            <a:ext cx="1005840" cy="41148"/>
          </a:xfrm>
          <a:prstGeom prst="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72768" y="1243584"/>
            <a:ext cx="493776" cy="41148"/>
          </a:xfrm>
          <a:prstGeom prst="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18520" y="356616"/>
            <a:ext cx="502920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1000" b="1">
                <a:solidFill>
                  <a:srgbClr val="607084"/>
                </a:solidFill>
                <a:latin typeface="Microsoft YaHe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37376"/>
            <a:ext cx="530352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607084"/>
                </a:solidFill>
                <a:latin typeface="Microsoft YaHei"/>
              </a:rPr>
              <a:t>第07组 | 基于 PostgreSQL 的数字图像集成管理系统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4512" y="6437376"/>
            <a:ext cx="73152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750" b="0">
                <a:solidFill>
                  <a:srgbClr val="607084"/>
                </a:solidFill>
                <a:latin typeface="Microsoft YaHei"/>
              </a:rPr>
              <a:t>11 / 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1828800"/>
            <a:ext cx="2377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1828800"/>
            <a:ext cx="73152" cy="1005840"/>
          </a:xfrm>
          <a:prstGeom prst="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1956816"/>
            <a:ext cx="2121408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32640"/>
                </a:solidFill>
                <a:latin typeface="Microsoft YaHei"/>
              </a:rPr>
              <a:t>v1 ORIGINAL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" y="2267712"/>
            <a:ext cx="2121408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819">
                <a:latin typeface="Microsoft YaHei"/>
              </a:defRPr>
            </a:pPr>
            <a:r>
              <a:rPr sz="819" b="0">
                <a:solidFill>
                  <a:srgbClr val="607084"/>
                </a:solidFill>
                <a:latin typeface="Microsoft YaHei"/>
              </a:rPr>
              <a:t>原图入库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91840" y="2331720"/>
            <a:ext cx="694943" cy="0"/>
          </a:xfrm>
          <a:prstGeom prst="line">
            <a:avLst/>
          </a:prstGeom>
          <a:ln w="17780">
            <a:solidFill>
              <a:srgbClr val="D3E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160520" y="1828800"/>
            <a:ext cx="2377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60520" y="1828800"/>
            <a:ext cx="73152" cy="1005840"/>
          </a:xfrm>
          <a:prstGeom prst="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06824" y="1956816"/>
            <a:ext cx="2121408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32640"/>
                </a:solidFill>
                <a:latin typeface="Microsoft YaHei"/>
              </a:rPr>
              <a:t>v2 CROP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6824" y="2267712"/>
            <a:ext cx="2121408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819">
                <a:latin typeface="Microsoft YaHei"/>
              </a:defRPr>
            </a:pPr>
            <a:r>
              <a:rPr sz="819" b="0">
                <a:solidFill>
                  <a:srgbClr val="607084"/>
                </a:solidFill>
                <a:latin typeface="Microsoft YaHei"/>
              </a:rPr>
              <a:t>裁剪版本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37960" y="2331720"/>
            <a:ext cx="694944" cy="0"/>
          </a:xfrm>
          <a:prstGeom prst="line">
            <a:avLst/>
          </a:prstGeom>
          <a:ln w="17780">
            <a:solidFill>
              <a:srgbClr val="D3E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06640" y="1828800"/>
            <a:ext cx="2377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06640" y="1828800"/>
            <a:ext cx="73152" cy="1005840"/>
          </a:xfrm>
          <a:prstGeom prst="rect">
            <a:avLst/>
          </a:prstGeom>
          <a:solidFill>
            <a:srgbClr val="2AA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52944" y="1956816"/>
            <a:ext cx="2121408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32640"/>
                </a:solidFill>
                <a:latin typeface="Microsoft YaHei"/>
              </a:rPr>
              <a:t>v3 ANNOTATE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2944" y="2267712"/>
            <a:ext cx="2121408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819">
                <a:latin typeface="Microsoft YaHei"/>
              </a:defRPr>
            </a:pPr>
            <a:r>
              <a:rPr sz="819" b="0">
                <a:solidFill>
                  <a:srgbClr val="607084"/>
                </a:solidFill>
                <a:latin typeface="Microsoft YaHei"/>
              </a:rPr>
              <a:t>标注版本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86384" y="3822191"/>
          <a:ext cx="525780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</a:tblGrid>
              <a:tr h="354330"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132640"/>
                          </a:solidFill>
                          <a:latin typeface="Microsoft YaHei"/>
                        </a:defRPr>
                      </a:pPr>
                      <a:r>
                        <a:t>数据库对象</a:t>
                      </a:r>
                    </a:p>
                  </a:txBody>
                  <a:tcPr marL="36576" marR="36576" marT="27432" marB="27432">
                    <a:solidFill>
                      <a:srgbClr val="E2F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132640"/>
                          </a:solidFill>
                          <a:latin typeface="Microsoft YaHei"/>
                        </a:defRPr>
                      </a:pPr>
                      <a:r>
                        <a:t>作用</a:t>
                      </a:r>
                    </a:p>
                  </a:txBody>
                  <a:tcPr marL="36576" marR="36576" marT="27432" marB="27432">
                    <a:solidFill>
                      <a:srgbClr val="E2F1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607084"/>
                          </a:solidFill>
                          <a:latin typeface="Microsoft YaHei"/>
                        </a:defRPr>
                      </a:pPr>
                      <a:r>
                        <a:t>image_versions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607084"/>
                          </a:solidFill>
                          <a:latin typeface="Microsoft YaHei"/>
                        </a:defRPr>
                      </a:pPr>
                      <a:r>
                        <a:t>保存版本元数据与当前版本标记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607084"/>
                          </a:solidFill>
                          <a:latin typeface="Microsoft YaHei"/>
                        </a:defRPr>
                      </a:pPr>
                      <a:r>
                        <a:t>image_edit_operations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607084"/>
                          </a:solidFill>
                          <a:latin typeface="Microsoft YaHei"/>
                        </a:defRPr>
                      </a:pPr>
                      <a:r>
                        <a:t>预留操作回放参数，主流程以版本快照为准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607084"/>
                          </a:solidFill>
                          <a:latin typeface="Microsoft YaHei"/>
                        </a:defRPr>
                      </a:pPr>
                      <a:r>
                        <a:t>sp_restore_version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607084"/>
                          </a:solidFill>
                          <a:latin typeface="Microsoft YaHei"/>
                        </a:defRPr>
                      </a:pPr>
                      <a:r>
                        <a:t>恢复历史版本并维护一致性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6400800" y="3657600"/>
            <a:ext cx="4297680" cy="1755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real_14_图片编辑器_1250x9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831" y="3657600"/>
            <a:ext cx="2339616" cy="17556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784080" y="-182880"/>
            <a:ext cx="2560320" cy="1920240"/>
          </a:xfrm>
          <a:prstGeom prst="roundRect">
            <a:avLst/>
          </a:prstGeom>
          <a:solidFill>
            <a:srgbClr val="DF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292608" y="5349240"/>
            <a:ext cx="2011680" cy="1463040"/>
          </a:xfrm>
          <a:prstGeom prst="roundRect">
            <a:avLst/>
          </a:prstGeom>
          <a:solidFill>
            <a:srgbClr val="E2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3108960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850" b="1">
                <a:solidFill>
                  <a:srgbClr val="2070CA"/>
                </a:solidFill>
                <a:latin typeface="Microsoft YaHei"/>
              </a:rPr>
              <a:t>数据库系统课程设计答辩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02920"/>
            <a:ext cx="6949440" cy="4114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2300" b="1">
                <a:solidFill>
                  <a:srgbClr val="132640"/>
                </a:solidFill>
                <a:latin typeface="Microsoft YaHei"/>
              </a:rPr>
              <a:t>界面证据：核心流程都已能演示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32688"/>
            <a:ext cx="8412480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07084"/>
                </a:solidFill>
                <a:latin typeface="Microsoft YaHei"/>
              </a:rPr>
              <a:t>启动向导、主界面、图片查看、幻灯片、编辑器、数据库初始化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243584"/>
            <a:ext cx="1005840" cy="41148"/>
          </a:xfrm>
          <a:prstGeom prst="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72768" y="1243584"/>
            <a:ext cx="493776" cy="41148"/>
          </a:xfrm>
          <a:prstGeom prst="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18520" y="356616"/>
            <a:ext cx="502920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1000" b="1">
                <a:solidFill>
                  <a:srgbClr val="607084"/>
                </a:solidFill>
                <a:latin typeface="Microsoft YaHe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37376"/>
            <a:ext cx="530352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607084"/>
                </a:solidFill>
                <a:latin typeface="Microsoft YaHei"/>
              </a:rPr>
              <a:t>第07组 | 基于 PostgreSQL 的数字图像集成管理系统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4512" y="6437376"/>
            <a:ext cx="73152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750" b="0">
                <a:solidFill>
                  <a:srgbClr val="607084"/>
                </a:solidFill>
                <a:latin typeface="Microsoft YaHei"/>
              </a:rPr>
              <a:t>12 /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35024"/>
            <a:ext cx="2560320" cy="1828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019" b="1">
                <a:solidFill>
                  <a:srgbClr val="132640"/>
                </a:solidFill>
                <a:latin typeface="Microsoft YaHei"/>
              </a:rPr>
              <a:t>数据库初始化向导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4828032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eal_08_数据库连接与初始化向导_760x6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824" y="1572768"/>
            <a:ext cx="1819118" cy="162763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17920" y="1335024"/>
            <a:ext cx="2560320" cy="1828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019" b="1">
                <a:solidFill>
                  <a:srgbClr val="132640"/>
                </a:solidFill>
                <a:latin typeface="Microsoft YaHei"/>
              </a:rPr>
              <a:t>主界面缩略图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572768"/>
            <a:ext cx="4828032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real_02_主界面_1200x800_默认窗口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72" y="1572768"/>
            <a:ext cx="2441448" cy="16276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9808" y="3364992"/>
            <a:ext cx="2560320" cy="1828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019" b="1">
                <a:solidFill>
                  <a:srgbClr val="132640"/>
                </a:solidFill>
                <a:latin typeface="Microsoft YaHei"/>
              </a:rPr>
              <a:t>图片编辑器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602736"/>
            <a:ext cx="4828032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real_14_图片编辑器_1250x93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7874" y="3602736"/>
            <a:ext cx="2169019" cy="16276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17920" y="3364992"/>
            <a:ext cx="2560320" cy="1828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019" b="1">
                <a:solidFill>
                  <a:srgbClr val="132640"/>
                </a:solidFill>
                <a:latin typeface="Microsoft YaHei"/>
              </a:rPr>
              <a:t>幻灯片播放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602736"/>
            <a:ext cx="4828032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eal_12_幻灯片播放_1250x87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7901" y="3602736"/>
            <a:ext cx="2325188" cy="162763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784080" y="-182880"/>
            <a:ext cx="2560320" cy="1920240"/>
          </a:xfrm>
          <a:prstGeom prst="roundRect">
            <a:avLst/>
          </a:prstGeom>
          <a:solidFill>
            <a:srgbClr val="DF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292608" y="5349240"/>
            <a:ext cx="2011680" cy="1463040"/>
          </a:xfrm>
          <a:prstGeom prst="roundRect">
            <a:avLst/>
          </a:prstGeom>
          <a:solidFill>
            <a:srgbClr val="E2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3108960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850" b="1">
                <a:solidFill>
                  <a:srgbClr val="2070CA"/>
                </a:solidFill>
                <a:latin typeface="Microsoft YaHei"/>
              </a:rPr>
              <a:t>数据库系统课程设计答辩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02920"/>
            <a:ext cx="6949440" cy="4114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2300" b="1">
                <a:solidFill>
                  <a:srgbClr val="132640"/>
                </a:solidFill>
                <a:latin typeface="Microsoft YaHei"/>
              </a:rPr>
              <a:t>现场演示路线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32688"/>
            <a:ext cx="8412480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07084"/>
                </a:solidFill>
                <a:latin typeface="Microsoft YaHei"/>
              </a:rPr>
              <a:t>先证明数据库初始化，再展示落库、查询、版本和幻灯片主流程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243584"/>
            <a:ext cx="1005840" cy="41148"/>
          </a:xfrm>
          <a:prstGeom prst="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72768" y="1243584"/>
            <a:ext cx="493776" cy="41148"/>
          </a:xfrm>
          <a:prstGeom prst="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18520" y="356616"/>
            <a:ext cx="502920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1000" b="1">
                <a:solidFill>
                  <a:srgbClr val="607084"/>
                </a:solidFill>
                <a:latin typeface="Microsoft YaHei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37376"/>
            <a:ext cx="530352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607084"/>
                </a:solidFill>
                <a:latin typeface="Microsoft YaHei"/>
              </a:rPr>
              <a:t>第07组 | 基于 PostgreSQL 的数字图像集成管理系统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4512" y="6437376"/>
            <a:ext cx="73152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750" b="0">
                <a:solidFill>
                  <a:srgbClr val="607084"/>
                </a:solidFill>
                <a:latin typeface="Microsoft YaHei"/>
              </a:rPr>
              <a:t>13 / 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1572768"/>
            <a:ext cx="384048" cy="384048"/>
          </a:xfrm>
          <a:prstGeom prst="round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641348"/>
            <a:ext cx="164592" cy="10972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9304" y="1554480"/>
            <a:ext cx="278892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9304" y="1554480"/>
            <a:ext cx="73152" cy="859536"/>
          </a:xfrm>
          <a:prstGeom prst="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35608" y="1682495"/>
            <a:ext cx="2532887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32640"/>
                </a:solidFill>
                <a:latin typeface="Microsoft YaHei"/>
              </a:rPr>
              <a:t>启动向导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8" y="1993391"/>
            <a:ext cx="2532887" cy="34747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770">
                <a:latin typeface="Microsoft YaHei"/>
              </a:defRPr>
            </a:pPr>
            <a:r>
              <a:rPr sz="770" b="0">
                <a:solidFill>
                  <a:srgbClr val="607084"/>
                </a:solidFill>
                <a:latin typeface="Microsoft YaHei"/>
              </a:rPr>
              <a:t>连接 PostgreSQL 并初始化 schema.sql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8264" y="1572768"/>
            <a:ext cx="384048" cy="384048"/>
          </a:xfrm>
          <a:prstGeom prst="round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1641348"/>
            <a:ext cx="164592" cy="10972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01184" y="1554480"/>
            <a:ext cx="278892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01184" y="1554480"/>
            <a:ext cx="73152" cy="859536"/>
          </a:xfrm>
          <a:prstGeom prst="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47488" y="1682495"/>
            <a:ext cx="2532887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32640"/>
                </a:solidFill>
                <a:latin typeface="Microsoft YaHei"/>
              </a:rPr>
              <a:t>导入目录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1993391"/>
            <a:ext cx="2532887" cy="34747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770">
                <a:latin typeface="Microsoft YaHei"/>
              </a:defRPr>
            </a:pPr>
            <a:r>
              <a:rPr sz="770" b="0">
                <a:solidFill>
                  <a:srgbClr val="607084"/>
                </a:solidFill>
                <a:latin typeface="Microsoft YaHei"/>
              </a:rPr>
              <a:t>目录树懒加载与图片元数据入库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1572768"/>
            <a:ext cx="384048" cy="384048"/>
          </a:xfrm>
          <a:prstGeom prst="roundRect">
            <a:avLst/>
          </a:prstGeom>
          <a:solidFill>
            <a:srgbClr val="2AA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1641348"/>
            <a:ext cx="164592" cy="10972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13064" y="1554480"/>
            <a:ext cx="278892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13064" y="1554480"/>
            <a:ext cx="73152" cy="859536"/>
          </a:xfrm>
          <a:prstGeom prst="rect">
            <a:avLst/>
          </a:prstGeom>
          <a:solidFill>
            <a:srgbClr val="2AA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59368" y="1682495"/>
            <a:ext cx="2532887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32640"/>
                </a:solidFill>
                <a:latin typeface="Microsoft YaHei"/>
              </a:rPr>
              <a:t>查看 schema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59368" y="1993391"/>
            <a:ext cx="2532887" cy="34747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770">
                <a:latin typeface="Microsoft YaHei"/>
              </a:defRPr>
            </a:pPr>
            <a:r>
              <a:rPr sz="770" b="0">
                <a:solidFill>
                  <a:srgbClr val="607084"/>
                </a:solidFill>
                <a:latin typeface="Microsoft YaHei"/>
              </a:rPr>
              <a:t>展示 13 表、索引、视图、触发器、过程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3054096"/>
            <a:ext cx="384048" cy="384048"/>
          </a:xfrm>
          <a:prstGeom prst="round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3122676"/>
            <a:ext cx="164592" cy="10972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89304" y="3035808"/>
            <a:ext cx="278892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89304" y="3035808"/>
            <a:ext cx="73152" cy="859536"/>
          </a:xfrm>
          <a:prstGeom prst="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35608" y="3163824"/>
            <a:ext cx="2532887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32640"/>
                </a:solidFill>
                <a:latin typeface="Microsoft YaHei"/>
              </a:rPr>
              <a:t>AI 标签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35608" y="3474720"/>
            <a:ext cx="2532887" cy="34747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770">
                <a:latin typeface="Microsoft YaHei"/>
              </a:defRPr>
            </a:pPr>
            <a:r>
              <a:rPr sz="770" b="0">
                <a:solidFill>
                  <a:srgbClr val="607084"/>
                </a:solidFill>
                <a:latin typeface="Microsoft YaHei"/>
              </a:rPr>
              <a:t>逐供应商验证、失败 fallback、本地可用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98264" y="3054096"/>
            <a:ext cx="384048" cy="384048"/>
          </a:xfrm>
          <a:prstGeom prst="round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60" y="3122676"/>
            <a:ext cx="164592" cy="10972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01184" y="3035808"/>
            <a:ext cx="278892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901184" y="3035808"/>
            <a:ext cx="73152" cy="859536"/>
          </a:xfrm>
          <a:prstGeom prst="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47488" y="3163824"/>
            <a:ext cx="2532887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32640"/>
                </a:solidFill>
                <a:latin typeface="Microsoft YaHei"/>
              </a:rPr>
              <a:t>NL2SQL 搜索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47488" y="3474720"/>
            <a:ext cx="2532887" cy="34747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770">
                <a:latin typeface="Microsoft YaHei"/>
              </a:defRPr>
            </a:pPr>
            <a:r>
              <a:rPr sz="770" b="0">
                <a:solidFill>
                  <a:srgbClr val="607084"/>
                </a:solidFill>
                <a:latin typeface="Microsoft YaHei"/>
              </a:rPr>
              <a:t>只读视图与安全校验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10144" y="3054096"/>
            <a:ext cx="384048" cy="384048"/>
          </a:xfrm>
          <a:prstGeom prst="roundRect">
            <a:avLst/>
          </a:prstGeom>
          <a:solidFill>
            <a:srgbClr val="2AA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92440" y="3122676"/>
            <a:ext cx="164592" cy="10972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13064" y="3035808"/>
            <a:ext cx="278892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513064" y="3035808"/>
            <a:ext cx="73152" cy="859536"/>
          </a:xfrm>
          <a:prstGeom prst="rect">
            <a:avLst/>
          </a:prstGeom>
          <a:solidFill>
            <a:srgbClr val="2AA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59368" y="3163824"/>
            <a:ext cx="2532887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32640"/>
                </a:solidFill>
                <a:latin typeface="Microsoft YaHei"/>
              </a:rPr>
              <a:t>编辑/幻灯片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59368" y="3474720"/>
            <a:ext cx="2532887" cy="34747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770">
                <a:latin typeface="Microsoft YaHei"/>
              </a:defRPr>
            </a:pPr>
            <a:r>
              <a:rPr sz="770" b="0">
                <a:solidFill>
                  <a:srgbClr val="607084"/>
                </a:solidFill>
                <a:latin typeface="Microsoft YaHei"/>
              </a:rPr>
              <a:t>版本历史、恢复与播放体验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" y="5029200"/>
            <a:ext cx="9738360" cy="713232"/>
          </a:xfrm>
          <a:prstGeom prst="roundRect">
            <a:avLst/>
          </a:prstGeom>
          <a:solidFill>
            <a:srgbClr val="E2F1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24128" y="5029200"/>
            <a:ext cx="73152" cy="713232"/>
          </a:xfrm>
          <a:prstGeom prst="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70432" y="5157216"/>
            <a:ext cx="9482328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32640"/>
                </a:solidFill>
                <a:latin typeface="Microsoft YaHei"/>
              </a:rPr>
              <a:t>追问准备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70432" y="5468112"/>
            <a:ext cx="9482328" cy="20116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840">
                <a:latin typeface="Microsoft YaHei"/>
              </a:defRPr>
            </a:pPr>
            <a:r>
              <a:rPr sz="840" b="0">
                <a:solidFill>
                  <a:srgbClr val="607084"/>
                </a:solidFill>
                <a:latin typeface="Microsoft YaHei"/>
              </a:rPr>
              <a:t>表结构、主键外键、索引用途、触发器留痕、存储过程边界、事务回滚路径都能从 schema.sql 与 DAO/Service 代码定位。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784080" y="-182880"/>
            <a:ext cx="2560320" cy="1920240"/>
          </a:xfrm>
          <a:prstGeom prst="roundRect">
            <a:avLst/>
          </a:prstGeom>
          <a:solidFill>
            <a:srgbClr val="DF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292608" y="5349240"/>
            <a:ext cx="2011680" cy="1463040"/>
          </a:xfrm>
          <a:prstGeom prst="roundRect">
            <a:avLst/>
          </a:prstGeom>
          <a:solidFill>
            <a:srgbClr val="E2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3108960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850" b="1">
                <a:solidFill>
                  <a:srgbClr val="2070CA"/>
                </a:solidFill>
                <a:latin typeface="Microsoft YaHei"/>
              </a:rPr>
              <a:t>数据库系统课程设计答辩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02920"/>
            <a:ext cx="6949440" cy="4114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2300" b="1">
                <a:solidFill>
                  <a:srgbClr val="132640"/>
                </a:solidFill>
                <a:latin typeface="Microsoft YaHei"/>
              </a:rPr>
              <a:t>总结：用数据库重新组织本地图片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32688"/>
            <a:ext cx="8412480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07084"/>
                </a:solidFill>
                <a:latin typeface="Microsoft YaHei"/>
              </a:rPr>
              <a:t>已完成主流程，云端/WebDAV、语音搜索作为后续扩展预留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243584"/>
            <a:ext cx="1005840" cy="41148"/>
          </a:xfrm>
          <a:prstGeom prst="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72768" y="1243584"/>
            <a:ext cx="493776" cy="41148"/>
          </a:xfrm>
          <a:prstGeom prst="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18520" y="356616"/>
            <a:ext cx="502920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1000" b="1">
                <a:solidFill>
                  <a:srgbClr val="607084"/>
                </a:solidFill>
                <a:latin typeface="Microsoft YaHei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37376"/>
            <a:ext cx="530352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607084"/>
                </a:solidFill>
                <a:latin typeface="Microsoft YaHei"/>
              </a:rPr>
              <a:t>第07组 | 基于 PostgreSQL 的数字图像集成管理系统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4512" y="6437376"/>
            <a:ext cx="73152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750" b="0">
                <a:solidFill>
                  <a:srgbClr val="607084"/>
                </a:solidFill>
                <a:latin typeface="Microsoft YaHei"/>
              </a:rPr>
              <a:t>14 / 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1600200"/>
            <a:ext cx="3154680" cy="2011680"/>
          </a:xfrm>
          <a:prstGeom prst="roundRect">
            <a:avLst/>
          </a:prstGeom>
          <a:solidFill>
            <a:srgbClr val="E2F1F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1600200"/>
            <a:ext cx="73152" cy="2011680"/>
          </a:xfrm>
          <a:prstGeom prst="rect">
            <a:avLst/>
          </a:prstGeom>
          <a:solidFill>
            <a:srgbClr val="207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728216"/>
            <a:ext cx="2898648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32640"/>
                </a:solidFill>
                <a:latin typeface="Microsoft YaHei"/>
              </a:rPr>
              <a:t>已经完成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039112"/>
            <a:ext cx="2898648" cy="14996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869">
                <a:latin typeface="Microsoft YaHei"/>
              </a:defRPr>
            </a:pPr>
            <a:r>
              <a:rPr sz="869" b="0">
                <a:solidFill>
                  <a:srgbClr val="607084"/>
                </a:solidFill>
                <a:latin typeface="Microsoft YaHei"/>
              </a:rPr>
              <a:t>桌面图片管理主流程</a:t>
            </a:r>
          </a:p>
          <a:p>
            <a:pPr>
              <a:lnSpc>
                <a:spcPct val="108000"/>
              </a:lnSpc>
              <a:defRPr sz="869">
                <a:latin typeface="Microsoft YaHei"/>
              </a:defRPr>
            </a:pPr>
            <a:r>
              <a:rPr sz="869" b="0">
                <a:solidFill>
                  <a:srgbClr val="607084"/>
                </a:solidFill>
                <a:latin typeface="Microsoft YaHei"/>
              </a:rPr>
              <a:t>PostgreSQL 数据库初始化</a:t>
            </a:r>
          </a:p>
          <a:p>
            <a:pPr>
              <a:lnSpc>
                <a:spcPct val="108000"/>
              </a:lnSpc>
              <a:defRPr sz="869">
                <a:latin typeface="Microsoft YaHei"/>
              </a:defRPr>
            </a:pPr>
            <a:r>
              <a:rPr sz="869" b="0">
                <a:solidFill>
                  <a:srgbClr val="607084"/>
                </a:solidFill>
                <a:latin typeface="Microsoft YaHei"/>
              </a:rPr>
              <a:t>缩略图/元数据/AI 标签落库</a:t>
            </a:r>
          </a:p>
          <a:p>
            <a:pPr>
              <a:lnSpc>
                <a:spcPct val="108000"/>
              </a:lnSpc>
              <a:defRPr sz="869">
                <a:latin typeface="Microsoft YaHei"/>
              </a:defRPr>
            </a:pPr>
            <a:r>
              <a:rPr sz="869" b="0">
                <a:solidFill>
                  <a:srgbClr val="607084"/>
                </a:solidFill>
                <a:latin typeface="Microsoft YaHei"/>
              </a:rPr>
              <a:t>版本历史与幻灯片演示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98848" y="1600200"/>
            <a:ext cx="3154680" cy="2011680"/>
          </a:xfrm>
          <a:prstGeom prst="roundRect">
            <a:avLst/>
          </a:prstGeom>
          <a:solidFill>
            <a:srgbClr val="E2F6EF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98848" y="1600200"/>
            <a:ext cx="73152" cy="2011680"/>
          </a:xfrm>
          <a:prstGeom prst="rect">
            <a:avLst/>
          </a:prstGeom>
          <a:solidFill>
            <a:srgbClr val="2AA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1728216"/>
            <a:ext cx="2898648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32640"/>
                </a:solidFill>
                <a:latin typeface="Microsoft YaHei"/>
              </a:rPr>
              <a:t>数据库含金量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2039112"/>
            <a:ext cx="2898648" cy="14996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869">
                <a:latin typeface="Microsoft YaHei"/>
              </a:defRPr>
            </a:pPr>
            <a:r>
              <a:rPr sz="869" b="0">
                <a:solidFill>
                  <a:srgbClr val="607084"/>
                </a:solidFill>
                <a:latin typeface="Microsoft YaHei"/>
              </a:rPr>
              <a:t>13 张表、19 个索引</a:t>
            </a:r>
          </a:p>
          <a:p>
            <a:pPr>
              <a:lnSpc>
                <a:spcPct val="108000"/>
              </a:lnSpc>
              <a:defRPr sz="869">
                <a:latin typeface="Microsoft YaHei"/>
              </a:defRPr>
            </a:pPr>
            <a:r>
              <a:rPr sz="869" b="0">
                <a:solidFill>
                  <a:srgbClr val="607084"/>
                </a:solidFill>
                <a:latin typeface="Microsoft YaHei"/>
              </a:rPr>
              <a:t>4 个视图、5 个触发器</a:t>
            </a:r>
          </a:p>
          <a:p>
            <a:pPr>
              <a:lnSpc>
                <a:spcPct val="108000"/>
              </a:lnSpc>
              <a:defRPr sz="869">
                <a:latin typeface="Microsoft YaHei"/>
              </a:defRPr>
            </a:pPr>
            <a:r>
              <a:rPr sz="869" b="0">
                <a:solidFill>
                  <a:srgbClr val="607084"/>
                </a:solidFill>
                <a:latin typeface="Microsoft YaHei"/>
              </a:rPr>
              <a:t>5 个存储过程、递归 CTE</a:t>
            </a:r>
          </a:p>
          <a:p>
            <a:pPr>
              <a:lnSpc>
                <a:spcPct val="108000"/>
              </a:lnSpc>
              <a:defRPr sz="869">
                <a:latin typeface="Microsoft YaHei"/>
              </a:defRPr>
            </a:pPr>
            <a:r>
              <a:rPr sz="869" b="0">
                <a:solidFill>
                  <a:srgbClr val="607084"/>
                </a:solidFill>
                <a:latin typeface="Microsoft YaHei"/>
              </a:rPr>
              <a:t>HikariCP + PreparedStatement + 事务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8" y="1600200"/>
            <a:ext cx="3154680" cy="2011680"/>
          </a:xfrm>
          <a:prstGeom prst="roundRect">
            <a:avLst/>
          </a:prstGeom>
          <a:solidFill>
            <a:srgbClr val="DFF8FC"/>
          </a:solidFill>
          <a:ln w="12700">
            <a:solidFill>
              <a:srgbClr val="D3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56448" y="1600200"/>
            <a:ext cx="73152" cy="2011680"/>
          </a:xfrm>
          <a:prstGeom prst="rect">
            <a:avLst/>
          </a:prstGeom>
          <a:solidFill>
            <a:srgbClr val="25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1728216"/>
            <a:ext cx="2898648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32640"/>
                </a:solidFill>
                <a:latin typeface="Microsoft YaHei"/>
              </a:rPr>
              <a:t>边界清楚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039112"/>
            <a:ext cx="2898648" cy="14996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defRPr sz="869">
                <a:latin typeface="Microsoft YaHei"/>
              </a:defRPr>
            </a:pPr>
            <a:r>
              <a:rPr sz="869" b="0">
                <a:solidFill>
                  <a:srgbClr val="607084"/>
                </a:solidFill>
                <a:latin typeface="Microsoft YaHei"/>
              </a:rPr>
              <a:t>WebDAV/云端是预留扩展</a:t>
            </a:r>
          </a:p>
          <a:p>
            <a:pPr>
              <a:lnSpc>
                <a:spcPct val="108000"/>
              </a:lnSpc>
              <a:defRPr sz="869">
                <a:latin typeface="Microsoft YaHei"/>
              </a:defRPr>
            </a:pPr>
            <a:r>
              <a:rPr sz="869" b="0">
                <a:solidFill>
                  <a:srgbClr val="607084"/>
                </a:solidFill>
                <a:latin typeface="Microsoft YaHei"/>
              </a:rPr>
              <a:t>语音搜索不作为已实现主流程</a:t>
            </a:r>
          </a:p>
          <a:p>
            <a:pPr>
              <a:lnSpc>
                <a:spcPct val="108000"/>
              </a:lnSpc>
              <a:defRPr sz="869">
                <a:latin typeface="Microsoft YaHei"/>
              </a:defRPr>
            </a:pPr>
            <a:r>
              <a:rPr sz="869" b="0">
                <a:solidFill>
                  <a:srgbClr val="607084"/>
                </a:solidFill>
                <a:latin typeface="Microsoft YaHei"/>
              </a:rPr>
              <a:t>AI 不可用时本地功能仍可运行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4828032"/>
            <a:ext cx="5669280" cy="50292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2600" b="1">
                <a:solidFill>
                  <a:srgbClr val="132640"/>
                </a:solidFill>
                <a:latin typeface="Microsoft YaHei"/>
              </a:rPr>
              <a:t>谢谢老师，请批评指正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437376"/>
            <a:ext cx="530352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607084"/>
                </a:solidFill>
                <a:latin typeface="Microsoft YaHei"/>
              </a:rPr>
              <a:t>第07组 | 基于 PostgreSQL 的数字图像集成管理系统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54512" y="6437376"/>
            <a:ext cx="73152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750" b="0">
                <a:solidFill>
                  <a:srgbClr val="607084"/>
                </a:solidFill>
                <a:latin typeface="Microsoft YaHe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